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5"/>
  </p:notesMasterIdLst>
  <p:sldIdLst>
    <p:sldId id="410" r:id="rId2"/>
    <p:sldId id="408" r:id="rId3"/>
    <p:sldId id="411" r:id="rId4"/>
    <p:sldId id="418" r:id="rId5"/>
    <p:sldId id="420" r:id="rId6"/>
    <p:sldId id="421" r:id="rId7"/>
    <p:sldId id="422" r:id="rId8"/>
    <p:sldId id="419" r:id="rId9"/>
    <p:sldId id="423" r:id="rId10"/>
    <p:sldId id="424" r:id="rId11"/>
    <p:sldId id="415" r:id="rId12"/>
    <p:sldId id="425" r:id="rId13"/>
    <p:sldId id="39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53118" autoAdjust="0"/>
  </p:normalViewPr>
  <p:slideViewPr>
    <p:cSldViewPr snapToGrid="0">
      <p:cViewPr varScale="1">
        <p:scale>
          <a:sx n="59" d="100"/>
          <a:sy n="59" d="100"/>
        </p:scale>
        <p:origin x="24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D2D997-0D67-4CB7-A72A-C0B2A90E5171}" type="datetimeFigureOut">
              <a:rPr lang="de-DE" smtClean="0"/>
              <a:t>05.06.2026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72C4E-902B-473F-A11B-D9FAD7812FD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0048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Ablauf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beginne mit der Datenbasis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zeige danach die unbereinigte Übersicht der Risikofaktoren.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 betrachten wir die demografischen, medizinischen und sozialen Einflüsse im Detail.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Gesamtmodell der logistischen Regression führt die Faktoren zusammen.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schließe mit einem kurzen Fazit.</a:t>
            </a:r>
          </a:p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Einleitung und Datenbasis</a:t>
            </a:r>
          </a:p>
          <a:p>
            <a:br>
              <a:rPr lang="de-DE" dirty="0"/>
            </a:br>
            <a:r>
              <a:rPr lang="de-DE" dirty="0"/>
              <a:t>Die Daten stammen aus einer Großbefragung der amerikanischen Gesundheitsbehörde CDC mit über 253.000 Beobachtungen. </a:t>
            </a:r>
          </a:p>
          <a:p>
            <a:r>
              <a:rPr lang="de-DE" dirty="0"/>
              <a:t>Der Datensatz ist vollständig besetzt. </a:t>
            </a:r>
          </a:p>
          <a:p>
            <a:r>
              <a:rPr lang="de-DE" dirty="0"/>
              <a:t>Die Zielvariable ist der Diabetes-Status als Ja-Nein-Wert. </a:t>
            </a:r>
          </a:p>
          <a:p>
            <a:r>
              <a:rPr lang="de-DE" dirty="0"/>
              <a:t>Die Struktur eignet sich optimal für eine logistische Regressionsanalyse.</a:t>
            </a:r>
          </a:p>
          <a:p>
            <a:endParaRPr lang="de-DE" dirty="0"/>
          </a:p>
          <a:p>
            <a:r>
              <a:rPr lang="de-DE" dirty="0"/>
              <a:t>Analyse aufgeteilt in: 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Rohdaten bivariat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Gesamtmodell multivariat</a:t>
            </a:r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43812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Der Gesamtdurchschnitt der Stichprobe liegt bei knapp 14 Prozent Diabetes-Anteil. </a:t>
            </a:r>
          </a:p>
          <a:p>
            <a:r>
              <a:rPr lang="de-DE" dirty="0"/>
              <a:t>Unbereinigt liegen alle neun Fokus-Gruppen deutlich über dieser Baseline. </a:t>
            </a:r>
          </a:p>
          <a:p>
            <a:r>
              <a:rPr lang="de-DE" dirty="0"/>
              <a:t>Die höchsten Raten verzeichnen Personen mit schlechtem Gesundheitszustand.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Auffällig hoch sind hier auch noch die Faktoren niedrige Bildung und geringes Einkommen.</a:t>
            </a:r>
            <a:br>
              <a:rPr lang="de-DE" dirty="0"/>
            </a:b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="1" dirty="0"/>
              <a:t>Balken mit Klasseneinteilungen: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Allgemeine_Gesundheit: 5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Körperliche_Gesundheit: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Bildungstand: 1-3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Einkommensstufe 1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BMI: ab 30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Psychische_Gesundheit: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Altersgruppe: 8 -13; ab 55 Jahre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dirty="0"/>
            </a:b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Risikofaktoren (als Heatmap)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Diabetes_Status,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Cholesterin_hoch,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Cholesterin_Check,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Raucher_Status,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Schlaganfall,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Herzerkrankung_Infarkt,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Sportliche_Aktivitaet,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Gemuese_Konsum,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Hoher_Alkoholkonsum,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Krankenversicherung,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Kein_Arzt_wegen_Kosten,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Allgemeine_Gesundheit,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effectLst/>
              </a:rPr>
              <a:t>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Psychische_Gesundheit,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Koerperliche_Gesundheit,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Einschränkung_Gehen,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Geschlecht,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Bildungsstand,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Einkommensstufe</a:t>
            </a:r>
            <a:r>
              <a:rPr lang="de-DE" dirty="0">
                <a:effectLst/>
              </a:rPr>
              <a:t>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1170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Verteilung nach Geschlecht und Basispopulation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Stichprobe hat einen leichten Frauenüberschuss von 56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reale Erkrankungsrisiko liegt bei den Männern mit 15,2 Prozent etwas höher als bei den Frauen mit 13,0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Bezogen auf die Gesamtbevölkerung stellen nicht-diabetische Frauen und Männer die absoluten Mehrheiten dar.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77672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Altersgruppen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Alter korreliert direkt mit dem Erkrankungsrisiko.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 35 Jahren ist Diabetes mit unter 2 Prozent extrem selten.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 Mitte 40 beschleunigen sich die Zahlen steil nach oben.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Höchstwert liegt bei den 65- bis 79-Jährigen mit über 25 Prozent Betroffenheit. </a:t>
            </a:r>
          </a:p>
          <a:p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dominieren ab dem mittleren Alter.</a:t>
            </a:r>
            <a:br>
              <a:rPr lang="de-DE" dirty="0"/>
            </a:br>
            <a:endParaRPr lang="de-DE" dirty="0"/>
          </a:p>
          <a:p>
            <a:r>
              <a:rPr lang="de-DE" b="1" dirty="0"/>
              <a:t>Altersgruppen:</a:t>
            </a:r>
          </a:p>
          <a:p>
            <a:endParaRPr lang="de-DE" b="1" dirty="0"/>
          </a:p>
          <a:p>
            <a:r>
              <a:rPr lang="de-DE" b="1" dirty="0"/>
              <a:t>Altersgruppe  Alter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de-DE" dirty="0">
                <a:effectLst/>
              </a:rPr>
              <a:t>                    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18 - 24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2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          25 - 29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30 - 34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35 - 39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40 - 44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45 - 49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  	50 - 54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55 - 59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60 - 64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10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65 - 69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 </a:t>
            </a:r>
            <a:r>
              <a:rPr lang="de-DE" dirty="0">
                <a:effectLst/>
              </a:rPr>
              <a:t>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70 - 74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 	75 - 79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</a:t>
            </a:r>
            <a:r>
              <a:rPr lang="de-DE" dirty="0">
                <a:effectLst/>
              </a:rPr>
              <a:t>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80 oder älter</a:t>
            </a:r>
            <a:r>
              <a:rPr lang="de-DE" dirty="0">
                <a:effectLst/>
              </a:rPr>
              <a:t> </a:t>
            </a:r>
            <a:endParaRPr lang="de-DE" b="1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3669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Körpergewicht: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Risiko steigt nicht linear, sondern bricht ab den Adipositas-Grenzbereichen aus.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Normalgewicht sind es unter 5 Prozent, bei Adipositas Grad III bereits über 34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Schere öffnet sich besonders im Übergewichtsbereich.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liegen konstant über den Raten der Frauen.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BMI-Einteilung nach WHO: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BMI_Kategorie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Untergewicht             &lt; 18.5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Normalgewicht             18.5 - 24.9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Übergewicht 	              25.0 - 29.9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          30.0 - 34.9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         35.0 - 39.9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III      &gt;= 40.0</a:t>
            </a: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Interessante Zahlen zum Vergleich:</a:t>
            </a:r>
            <a:b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50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162,0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60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194,4 kg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BMI 70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226,8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80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259,2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291,6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317,5 kg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8598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Medizinischen Indikatoren:  Bluthochdruck und hohes Cholesterin.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 Probleme betreffen weit über 40 % der Bevölkerung.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Bluthochdruck sehen wir das größte Gefälle zwischen den Geschlechtern.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 46 % der Männer haben mit Bluthochdruck zu kämpfen, im Vergleich zu knapp 41 % bei den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Cholesterin liegen beide Geschlechter etwas näher zusammen, aber auch hier führen die Männer leicht. </a:t>
            </a:r>
          </a:p>
          <a:p>
            <a:endParaRPr lang="de-DE" dirty="0"/>
          </a:p>
          <a:p>
            <a:r>
              <a:rPr lang="de-DE" dirty="0"/>
              <a:t>Bluthochdruck und hohes Cholesterin – Ja/Nein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7911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 und Einkommen.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Schaut man sich die reinen Rohdaten an, sieht man bei beiden Grafiken eine ganz klare Treppe nach unten.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bedeutet: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 niedriger die Bildung und je geringer das Einkommen, desto höher ist die Häufigkeit von Diabetes.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kein Geld hat oder keinen Abschluss besitzt, überschreitet in den reinen Zahlen fast die 25-%-Marke.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den Gutverdienern und Akademikern fällt die Betroffenheit dagegen auf unter 10 %.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hier sind Männer in fast jeder Stufe etwas häufiger betroffen als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 Vorsicht: Ob Bildung und Einkommen wirklich die Ursache sind, klären wir gleich im Gesamtmodell.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Eingruppierung Bildung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Never attended school or only kindergarten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Grades 1 through 8 (Elementary)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Grades 9 through 11 (Some high school)</a:t>
            </a:r>
          </a:p>
          <a:p>
            <a:pPr marL="228600" indent="-228600" fontAlgn="base">
              <a:buAutoNum type="arabicPlain" startAt="4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Grade 12 or GED (High school graduate)</a:t>
            </a:r>
          </a:p>
          <a:p>
            <a:pPr marL="228600" indent="-228600" fontAlgn="base">
              <a:buAutoNum type="arabicPlain" startAt="4"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College 1 year to 3 years (Some college or technical school)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College 4 years or more (College graduate)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b="1" dirty="0"/>
              <a:t>Eingruppierung Haushaltseinkommen</a:t>
            </a:r>
            <a:br>
              <a:rPr lang="de-DE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Less than $10,000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Less than $15,000 ($10,000 to less than $15,000)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Less than $20,000 ($15,000 to less than $20,000)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 -  Less than $25,000 ($20,000 to less than $25,000)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Less than $35,000 ($25,000 to less than $35,000)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Less than $50,000 ($35,000 to less than $50,000)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-  Less than $75,000 ($50,000 to less than $75,000)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 - $75,000 or more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224556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Subjektives Befinden: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Aufgeteilt in allgemeine, körperliche und psychische Gesundheit.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der allgemeinen Gesundheit gibt es de extremsten Hebel in den Rohdaten: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ausgezeichnet fühlt, hat fast nie Diabetes.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schlecht fühlt, ist zu über 30 % betroffen.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bei den körperlich schlechten Tagen steigt die Kurve mit jedem einzelnen Tag kontinuierlich an.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 überraschend ist dagegen das Ergebnis der psychischen Gesundheit: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Linie verläuft im direkten Vergleich auffallend flach.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 jemand null oder dreißig psychisch schlechte Tage im Monat hat, verändert die unbereinigte Diabetes-Rate kaum.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Psyche scheint in den Rohdaten also eine untergeordnete Rolle zu spielen.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Eingruppierung der Gesundheitszustände</a:t>
            </a:r>
          </a:p>
          <a:p>
            <a:endParaRPr lang="de-DE" dirty="0"/>
          </a:p>
          <a:p>
            <a:r>
              <a:rPr lang="de-DE" dirty="0"/>
              <a:t>Allgemeine Gesundheit: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1 -  Ausgezeichnet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2 - Sehr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3 -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4 - Weniger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5 - Schlecht </a:t>
            </a:r>
          </a:p>
          <a:p>
            <a:endParaRPr lang="de-DE" dirty="0"/>
          </a:p>
          <a:p>
            <a:r>
              <a:rPr lang="de-DE" dirty="0"/>
              <a:t>Körperliche Gesundheit – Wertebereich 0 bis 30 (exakte Anzahl der Tage gut/schlecht)</a:t>
            </a:r>
            <a:br>
              <a:rPr lang="de-DE" dirty="0"/>
            </a:br>
            <a:endParaRPr lang="de-DE" dirty="0"/>
          </a:p>
          <a:p>
            <a:r>
              <a:rPr lang="de-DE" dirty="0"/>
              <a:t>Psychische Gesundheit – Wertebereich 0 bis 30 (exakte Anzahl der Tage gut/schlecht)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74221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Wichtigster Teil der Analyse: das Gesamtmodell. (logistische Regression)</a:t>
            </a:r>
          </a:p>
          <a:p>
            <a:endParaRPr lang="de-DE" dirty="0"/>
          </a:p>
          <a:p>
            <a:r>
              <a:rPr lang="de-DE" dirty="0"/>
              <a:t>Die logistische Regression liefert mit einem Pseudo-R² von über 20 % einen sehr guten Erklärungswert.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 und hohes Cholesterin sind die massivsten Treiber – Bluthochdruck verdoppelt das Risiko im bereinigten Vergleich sogar.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BMI sehen wir scheinbar einen kleinen Balken, aber Achtung!!!  Dieser Effekt gilt pro einzelnem Punkt.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Rechnet man das auf 10 Punkte hoch, steigt das Risiko kumulativ um fast 88 %! </a:t>
            </a:r>
          </a:p>
          <a:p>
            <a:endParaRPr lang="de-DE" dirty="0"/>
          </a:p>
          <a:p>
            <a:r>
              <a:rPr lang="de-DE" dirty="0"/>
              <a:t>Ein interessanter Punkt liegt bei den Balken links der Linie: </a:t>
            </a:r>
          </a:p>
          <a:p>
            <a:r>
              <a:rPr lang="de-DE" dirty="0"/>
              <a:t>Bildung und Einkommen, die in den Rohdaten oben noch wie Risikofaktoren wirkten, kehren sich im Gesamtmodell in Schutzfaktoren um. </a:t>
            </a:r>
          </a:p>
          <a:p>
            <a:r>
              <a:rPr lang="de-DE" dirty="0"/>
              <a:t>Das beweist, dass ein geringer sozialer Status nicht die biologische Ursache für Diabetes ist, sondern dieser statistisch lediglich mit einem höheren Bluthochdruck, Alter oder höherem BMI einhergeht. </a:t>
            </a:r>
          </a:p>
          <a:p>
            <a:r>
              <a:rPr lang="de-DE" dirty="0"/>
              <a:t>d.h.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Menschen mit weniger Einkommen oder Bildung sind in dieser Stichprobe im Durchschnitt einfach älter und haben ein höheres Gewicht.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Gesamtmodell rechnet die Unterschiede heraus. Es vergleicht Menschen mit gleichem Alter und gleichem BMI. </a:t>
            </a:r>
          </a:p>
          <a:p>
            <a:endParaRPr lang="de-DE" dirty="0"/>
          </a:p>
          <a:p>
            <a:r>
              <a:rPr lang="de-DE" dirty="0"/>
              <a:t>Da kein einziger Fehlerbalken die 1,0 berührt, sind die gezeigten Effekte statistisch korrekt</a:t>
            </a:r>
          </a:p>
          <a:p>
            <a:endParaRPr lang="de-DE" dirty="0"/>
          </a:p>
          <a:p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76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Bluthochdruck , hohes Cholesterin oder einen hohen BMI hat, trägt das statistisch höchste Diabetes-Risiko.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Körpergewicht zeigt die Tabelle rechts eindrucksvoll die unsichtbare Hebelwirkung: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Eine Erhöhung des BMI um 10 Punkte treibt das Risiko um fast 88 % in die Höhe.</a:t>
            </a:r>
          </a:p>
          <a:p>
            <a:endParaRPr lang="de-DE" sz="1200" b="0" i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Zudem konnte die soziale Verzerrung aufgelöst werden.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geringer Status (Bildung/Einkommen)  ist nicht die Ursache für Diabetes, sondern korreliert in der Bevölkerung schlicht mit einem höheren Alter und Gewicht.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Modell belegt, dass Prävention primär an den klinischen Parametern und dem Gewicht ansetzen muss.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Erklärung: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wichtiges Ergebnis betrifft Bildung und Einkommen. In den reinen Rohdaten sehen wir ein klares Gefälle.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 Geld oder Schulabschluss liegt die Diabetes-Rate bei fast 25 Prozent.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Gesamtmodell zeigt sich eine komplette Kehrtwende. Bildung und Einkommen sinken unter den neutralen Wert von 1,0.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 wirken plötzlich als Schutzfaktoren.</a:t>
            </a:r>
          </a:p>
          <a:p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Tabelle: BMI-Punkte</a:t>
            </a:r>
          </a:p>
          <a:p>
            <a:b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de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Zusätzliche BMI-Punkte | Mathematische Formel | Multiplikator (Odds Ratio gesamt) | Risiko-Anstieg in %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:--------------------: | :------------------: | :-------------------------------: | :-----------------: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1,065⁰               | 1,000                             | Baseline (0 %)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 Punkt**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 | 1,065¹               | 1,065                             | + 6,5 %            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1,065²               | 1,134                             | + 13,4 %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**+ 3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1,065³               | 1,208                             | + 20,8 %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**+ 4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1,065⁴               | 1,286                             | + 28,6 %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**+ 5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1,065⁵               | 1,370                             | + 37,0 %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**+ 6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1,065⁶               | 1,459                             | + 45,9 %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**+ 7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1,065⁷               | 1,554                             | + 55,4 %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**+ 8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1,065⁸               | 1,655                             | + 65,5 %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**+ 9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1,065⁹               | 1,763                             | + 76,3 %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1,065¹⁰              | 1,877                             | + 87,7 %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1,065¹²              | 2,129                             | + 112,9 % (Risiko verdoppelt!) |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4122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56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571716"/>
            <a:ext cx="12192000" cy="2862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32690" y="6648628"/>
            <a:ext cx="314332" cy="145279"/>
          </a:xfrm>
        </p:spPr>
        <p:txBody>
          <a:bodyPr/>
          <a:lstStyle>
            <a:lvl1pPr>
              <a:defRPr sz="900" b="0">
                <a:solidFill>
                  <a:schemeClr val="tx1"/>
                </a:solidFill>
              </a:defRPr>
            </a:lvl1pPr>
          </a:lstStyle>
          <a:p>
            <a:fld id="{294A09A9-5501-47C1-A89A-A340965A2BE2}" type="slidenum">
              <a:rPr lang="de-DE" smtClean="0"/>
              <a:pPr/>
              <a:t>‹Nr.›</a:t>
            </a:fld>
            <a:endParaRPr lang="de-DE" sz="900" dirty="0"/>
          </a:p>
        </p:txBody>
      </p:sp>
    </p:spTree>
    <p:extLst>
      <p:ext uri="{BB962C8B-B14F-4D97-AF65-F5344CB8AC3E}">
        <p14:creationId xmlns:p14="http://schemas.microsoft.com/office/powerpoint/2010/main" val="338292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79436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30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9001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640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63095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2682912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3518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0113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94505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01502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0624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568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8296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0050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243782"/>
            <a:ext cx="12192000" cy="614218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36F576E-78B9-A930-E9B1-69FD6883E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24186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36597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65883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957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2571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984886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97950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058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97469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848372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9502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7280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459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483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31" y="1774351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Titelplatzhalt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9" y="10020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Titelmasterformat durch Klicken bearbeiten</a:t>
            </a:r>
          </a:p>
        </p:txBody>
      </p:sp>
      <p:sp>
        <p:nvSpPr>
          <p:cNvPr id="30" name="Datumsplatzhalt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40190" y="627729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32" name="Foliennummernplatzhalt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3370" y="6280732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359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de-DE" sz="3600" b="1" i="0" kern="1200" spc="100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eaLnBrk="1" hangingPunct="1">
        <a:defRPr lang="de-DE">
          <a:solidFill>
            <a:schemeClr val="tx2"/>
          </a:solidFill>
        </a:defRPr>
      </a:lvl2pPr>
      <a:lvl3pPr eaLnBrk="1" hangingPunct="1">
        <a:defRPr lang="de-DE">
          <a:solidFill>
            <a:schemeClr val="tx2"/>
          </a:solidFill>
        </a:defRPr>
      </a:lvl3pPr>
      <a:lvl4pPr eaLnBrk="1" hangingPunct="1">
        <a:defRPr lang="de-DE">
          <a:solidFill>
            <a:schemeClr val="tx2"/>
          </a:solidFill>
        </a:defRPr>
      </a:lvl4pPr>
      <a:lvl5pPr eaLnBrk="1" hangingPunct="1">
        <a:defRPr lang="de-DE">
          <a:solidFill>
            <a:schemeClr val="tx2"/>
          </a:solidFill>
        </a:defRPr>
      </a:lvl5pPr>
      <a:lvl6pPr eaLnBrk="1" hangingPunct="1">
        <a:defRPr lang="de-DE">
          <a:solidFill>
            <a:schemeClr val="tx2"/>
          </a:solidFill>
        </a:defRPr>
      </a:lvl6pPr>
      <a:lvl7pPr eaLnBrk="1" hangingPunct="1">
        <a:defRPr lang="de-DE">
          <a:solidFill>
            <a:schemeClr val="tx2"/>
          </a:solidFill>
        </a:defRPr>
      </a:lvl7pPr>
      <a:lvl8pPr eaLnBrk="1" hangingPunct="1">
        <a:defRPr lang="de-DE">
          <a:solidFill>
            <a:schemeClr val="tx2"/>
          </a:solidFill>
        </a:defRPr>
      </a:lvl8pPr>
      <a:lvl9pPr eaLnBrk="1" hangingPunct="1">
        <a:defRPr lang="de-DE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9954" y="1380565"/>
            <a:ext cx="8380430" cy="3146612"/>
          </a:xfrm>
        </p:spPr>
        <p:txBody>
          <a:bodyPr rtlCol="0"/>
          <a:lstStyle>
            <a:defPPr>
              <a:defRPr lang="de-DE"/>
            </a:defPPr>
          </a:lstStyle>
          <a:p>
            <a:pPr algn="ctr"/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Diabetes Risikofaktoren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Explorative Datenanalyse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012714C-25D7-5B8F-6A5C-9D4CA403C368}"/>
              </a:ext>
            </a:extLst>
          </p:cNvPr>
          <p:cNvSpPr txBox="1"/>
          <p:nvPr/>
        </p:nvSpPr>
        <p:spPr>
          <a:xfrm>
            <a:off x="9565342" y="6201106"/>
            <a:ext cx="2411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bg1"/>
                </a:solidFill>
              </a:rPr>
              <a:t>Kerstin Klüh    05.06.2026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0351280-E4EA-5910-C09D-DB6E1385E6D0}"/>
              </a:ext>
            </a:extLst>
          </p:cNvPr>
          <p:cNvCxnSpPr>
            <a:cxnSpLocks/>
          </p:cNvCxnSpPr>
          <p:nvPr/>
        </p:nvCxnSpPr>
        <p:spPr>
          <a:xfrm>
            <a:off x="6279822" y="3954729"/>
            <a:ext cx="2185447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16195E3A-1159-1BD5-A09C-849DFA8F1255}"/>
              </a:ext>
            </a:extLst>
          </p:cNvPr>
          <p:cNvSpPr/>
          <p:nvPr/>
        </p:nvSpPr>
        <p:spPr>
          <a:xfrm>
            <a:off x="0" y="6562165"/>
            <a:ext cx="12191999" cy="29583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1F587D5-3078-1A87-7947-2A235FD9E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05" y="1857080"/>
            <a:ext cx="3152775" cy="44306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067" y="206411"/>
            <a:ext cx="2193664" cy="103219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2D0C88-D801-AD2D-6A81-A13229FEE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5441" y="6610349"/>
            <a:ext cx="523240" cy="247651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4A09A9-5501-47C1-A89A-A340965A2BE2}" type="slidenum">
              <a:rPr kumimoji="0" lang="de-DE" sz="11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Franklin Gothic Boo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1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Franklin Gothic Book"/>
              <a:ea typeface="+mn-ea"/>
              <a:cs typeface="+mn-cs"/>
            </a:endParaRPr>
          </a:p>
        </p:txBody>
      </p:sp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668C2733-21D1-F3CB-07C9-3BB23DFFF83B}"/>
              </a:ext>
            </a:extLst>
          </p:cNvPr>
          <p:cNvSpPr txBox="1">
            <a:spLocks/>
          </p:cNvSpPr>
          <p:nvPr/>
        </p:nvSpPr>
        <p:spPr>
          <a:xfrm>
            <a:off x="1112786" y="1846730"/>
            <a:ext cx="8309120" cy="4509246"/>
          </a:xfrm>
          <a:prstGeom prst="rect">
            <a:avLst/>
          </a:prstGeom>
        </p:spPr>
        <p:txBody>
          <a:bodyPr vert="horz" lIns="0" tIns="45720" rIns="0" bIns="0" rtlCol="0">
            <a:normAutofit fontScale="25000" lnSpcReduction="20000"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None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943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229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00584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7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Datenbasis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Übersicht der 9 ausgewählten Risikofaktoren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Einfluss von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3.1 Geschlecht,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3.2 Alter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3.3 BMI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Medizinischen Faktoren: Bluthochdruck und Cholesterin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Sozioökonomische Faktoren: Bildung und Einkommen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Subjektiver Gesundheitszustand: Körper und Psyche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Gesamtmodell: Logistische Regression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Zusammenfassung</a:t>
            </a:r>
          </a:p>
          <a:p>
            <a:pPr marL="0" lvl="1" indent="0">
              <a:spcAft>
                <a:spcPts val="400"/>
              </a:spcAft>
              <a:buNone/>
            </a:pPr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71510FF-DF75-AFF1-8C28-F9573E319397}"/>
              </a:ext>
            </a:extLst>
          </p:cNvPr>
          <p:cNvCxnSpPr>
            <a:cxnSpLocks/>
          </p:cNvCxnSpPr>
          <p:nvPr/>
        </p:nvCxnSpPr>
        <p:spPr>
          <a:xfrm>
            <a:off x="1170495" y="1362358"/>
            <a:ext cx="2119460" cy="0"/>
          </a:xfrm>
          <a:prstGeom prst="line">
            <a:avLst/>
          </a:prstGeom>
          <a:ln w="920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156C4EB-F864-7701-F582-8DC459723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19" y="445808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1. Datenbasis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5547FB-E84D-648F-D534-AAE24B18A0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77401" y="6657474"/>
            <a:ext cx="523240" cy="109992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3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68748F14-A2CC-13DF-558B-6653241ED75E}"/>
              </a:ext>
            </a:extLst>
          </p:cNvPr>
          <p:cNvSpPr txBox="1">
            <a:spLocks/>
          </p:cNvSpPr>
          <p:nvPr/>
        </p:nvSpPr>
        <p:spPr>
          <a:xfrm>
            <a:off x="583319" y="1734208"/>
            <a:ext cx="11209287" cy="443799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Datenquelle: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CDC-BRFSS-Datensatz aus einer Großbefragung im Jahr 2015 zu Diabetes Gesundheitsindikatoren in den USA. Aufbereitet und bereitgestellt von Alex Teboul.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Stichprobengröße: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253.680 Beobachtungen, 22 Spalten, vollständig besetzt, keine fehlenden Werte</a:t>
            </a:r>
          </a:p>
          <a:p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 Risikofaktoren: </a:t>
            </a:r>
          </a:p>
          <a:p>
            <a:pPr marL="457200" lvl="1" indent="0"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(Diabetes_Status), Bluthochdruck, Cholesterin_hoch, Cholesterin_Check, BMI, Raucher_Status, Schlaganfall, Herzerkrankung_Infarkt, Sportliche_Aktivitaet, Obst_Konsum, Gemuese_Konsum, Hoher_Alkoholkonsum, Krankenversicherung, Kein_Arzt_wegen_Kosten, Allgemeine_Gesundheit, Psychische_Gesundheit, Koerperliche_Gesundheit, Einschraenkung_Gehen, Geschlecht, Altersgruppe, Bildungsstand, Einkommensstufe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Zielvariable: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Diabetes-Status (binär: Gesund / Diabetes)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Datenstruktur: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Überwiegend standardisierte Ja/Nein-Antworten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Methodik: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Deskriptive Analyse gefolgt von einer logistischen Regression</a:t>
            </a:r>
          </a:p>
        </p:txBody>
      </p:sp>
    </p:spTree>
    <p:extLst>
      <p:ext uri="{BB962C8B-B14F-4D97-AF65-F5344CB8AC3E}">
        <p14:creationId xmlns:p14="http://schemas.microsoft.com/office/powerpoint/2010/main" val="185605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DE46-7D25-EA62-1003-83253034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6B563837-0B93-C3F1-6AD8-B52EBB8FF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518" y="2160350"/>
            <a:ext cx="3382573" cy="2061981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123CB6AE-F41A-B820-56B6-F7AF93E6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8" y="100205"/>
            <a:ext cx="10997061" cy="1325563"/>
          </a:xfrm>
        </p:spPr>
        <p:txBody>
          <a:bodyPr>
            <a:normAutofit fontScale="90000"/>
          </a:bodyPr>
          <a:lstStyle/>
          <a:p>
            <a:r>
              <a:rPr lang="de-DE" sz="3600" dirty="0"/>
              <a:t>2. Übersicht der 9 ausgewählten Risikofaktoren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E6E62EC-C9B8-3A77-375E-0ACEBE3772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4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C294A-CF91-AFDC-BF18-933603C89AEB}"/>
              </a:ext>
            </a:extLst>
          </p:cNvPr>
          <p:cNvSpPr txBox="1">
            <a:spLocks/>
          </p:cNvSpPr>
          <p:nvPr/>
        </p:nvSpPr>
        <p:spPr>
          <a:xfrm>
            <a:off x="7995628" y="2242017"/>
            <a:ext cx="3648761" cy="280663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Baseline der Stichprobe: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Durchschnittliche Diabetes-Rate liegt bei 13,9 %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Massiver unbereinigter 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neun Risikogruppen liegen deutlich über dem Durchschnitt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Die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Eingeschränkte allgemeine Gesundheit (32,9 %) und körperliche Beschwerden (28,6 %) weisen die höchsten Raten auf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Auffälligkeit: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Niedrige Bildung (27,0 %) und geringes Einkommen (24,3 %) zeigen hier sehr hohe Diabetes-Anteile</a:t>
            </a: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0985F8D-50CC-1BC9-4C40-5E8EA05E4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53" y="1021403"/>
            <a:ext cx="7349666" cy="534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76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6449E-0D92-7AC3-BAAD-AEF469EF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393B7C3-ED10-0BFA-ED32-9B287470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901" y="546847"/>
            <a:ext cx="10387404" cy="430927"/>
          </a:xfrm>
        </p:spPr>
        <p:txBody>
          <a:bodyPr>
            <a:normAutofit fontScale="90000"/>
          </a:bodyPr>
          <a:lstStyle/>
          <a:p>
            <a:r>
              <a:rPr lang="de-DE" dirty="0"/>
              <a:t>3.1 Gesamtbevölkerung und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0FED5E-0CBB-F241-EDD1-8ED311DA29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5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965FAA8-B1F2-249A-D2B1-25506F7BE427}"/>
              </a:ext>
            </a:extLst>
          </p:cNvPr>
          <p:cNvSpPr txBox="1">
            <a:spLocks/>
          </p:cNvSpPr>
          <p:nvPr/>
        </p:nvSpPr>
        <p:spPr>
          <a:xfrm>
            <a:off x="7474929" y="910254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C8070A1-B970-839C-A985-FA44E8C524FD}"/>
              </a:ext>
            </a:extLst>
          </p:cNvPr>
          <p:cNvSpPr txBox="1">
            <a:spLocks/>
          </p:cNvSpPr>
          <p:nvPr/>
        </p:nvSpPr>
        <p:spPr>
          <a:xfrm>
            <a:off x="533799" y="4975412"/>
            <a:ext cx="5419529" cy="129988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Stichproben-Verteilung: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Leichter Frauenüberschuss in den Daten mit 56 % Frauen und 44 % Männern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Struktur der Gesamtbevölkerung: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 Frauen 48,7 %</a:t>
            </a: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Nicht-diabetischen Männer 37,4 %</a:t>
            </a:r>
          </a:p>
          <a:p>
            <a:pPr lvl="1"/>
            <a:endParaRPr lang="de-DE" sz="12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B609A56-654D-D658-0249-0337EF441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90" y="1206500"/>
            <a:ext cx="5409052" cy="3542553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EA46B6F0-BBBD-82B3-D874-E713371EA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788" y="1206499"/>
            <a:ext cx="5859700" cy="349567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D13AF6E-70E2-60E5-65ED-264B2117D07F}"/>
              </a:ext>
            </a:extLst>
          </p:cNvPr>
          <p:cNvSpPr txBox="1"/>
          <p:nvPr/>
        </p:nvSpPr>
        <p:spPr>
          <a:xfrm>
            <a:off x="6451872" y="4944362"/>
            <a:ext cx="49003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Reale Diabetes-Raten: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Männer weisen mit 15,2 % eine etwas höhere Betroffenheit auf als Frauen mit 13 %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Frauen 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mit 13,0 %</a:t>
            </a:r>
          </a:p>
        </p:txBody>
      </p:sp>
    </p:spTree>
    <p:extLst>
      <p:ext uri="{BB962C8B-B14F-4D97-AF65-F5344CB8AC3E}">
        <p14:creationId xmlns:p14="http://schemas.microsoft.com/office/powerpoint/2010/main" val="3704568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98B6-D32E-4667-428E-71094C9B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3314A16-3C7D-C981-567D-F8DF27D19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865" y="46373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3.2 Altersgruppen nach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09DB66-10EC-2A57-5F75-0A700EDCFF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6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1B281E43-60B2-3C36-F200-C7755B011465}"/>
              </a:ext>
            </a:extLst>
          </p:cNvPr>
          <p:cNvSpPr txBox="1">
            <a:spLocks/>
          </p:cNvSpPr>
          <p:nvPr/>
        </p:nvSpPr>
        <p:spPr>
          <a:xfrm>
            <a:off x="923765" y="5002672"/>
            <a:ext cx="8764960" cy="146799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Progressiver Verlauf: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Erkrankungsrisiko korreliert direkt mit dem biologischen Lebensalter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Minimales Risiko bei Jüngeren: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In den Altersgruppen unter 30 Jahren verweilt die Rate bei unter 2 %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Spürbare Risikobeschleunigung: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Ab Mitte 40 gehen die Fallzahlen steil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Der Peak: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Höchste Betroffenheit zwischen 65 und 79 Jahren mit über 25 % (Stagnation ab 80 Jahren)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sind ab dem mittleren Alter höher betroffen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75F7C6F-86D2-700D-48FB-CFF051DF5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38" y="995083"/>
            <a:ext cx="9895439" cy="389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320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F5255-FEA4-6301-A5E0-538FD6B8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C211AE6-5756-224A-DE1D-65E670A4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54" y="284443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3.3 Einfluss BMI nach Geschlecht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EF0D13-786F-539B-D1DB-274640545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80541" y="6611234"/>
            <a:ext cx="638030" cy="184013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7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F3AB0AA3-73A1-B9D3-EBDA-A678E251A6CE}"/>
              </a:ext>
            </a:extLst>
          </p:cNvPr>
          <p:cNvSpPr txBox="1">
            <a:spLocks/>
          </p:cNvSpPr>
          <p:nvPr/>
        </p:nvSpPr>
        <p:spPr>
          <a:xfrm>
            <a:off x="7607876" y="2014021"/>
            <a:ext cx="4490827" cy="240557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Exponentieller Anstieg: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Diabetes-Risiko klettert mit steigenden WHO-Gewichtsklassen drastisch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Nach Zahlen: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Normalgewicht: Minimales Risiko von nur 4,7 %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I: Risiko steigt auf 16,6 %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III: Höchstwert von 34,4 % (mehr als jeder Dritte)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Konsistentes 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tragen über das gesamte Gewichtsspektrum hinweg ein durchgehend höheres Risiko als Frauen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1BAB6B7-ABE2-8EE9-DCB7-BE1D6540A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02" y="1317812"/>
            <a:ext cx="7146551" cy="462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07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B803-314E-7241-7D1C-DCFD9E935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23E00E6-5E12-9B91-28B6-78ABAB5B3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2" y="690282"/>
            <a:ext cx="10401300" cy="637115"/>
          </a:xfrm>
        </p:spPr>
        <p:txBody>
          <a:bodyPr>
            <a:normAutofit fontScale="90000"/>
          </a:bodyPr>
          <a:lstStyle/>
          <a:p>
            <a:r>
              <a:rPr lang="de-DE" dirty="0"/>
              <a:t>4. Medizinischen Faktoren: Bluthochdruck und Cholesterin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8BA5DB-E418-8887-F7E3-C5C27C3ECF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00844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8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5B01646-306D-6796-2812-F75434977629}"/>
              </a:ext>
            </a:extLst>
          </p:cNvPr>
          <p:cNvSpPr txBox="1">
            <a:spLocks/>
          </p:cNvSpPr>
          <p:nvPr/>
        </p:nvSpPr>
        <p:spPr>
          <a:xfrm>
            <a:off x="7257720" y="2459608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Gesamthäufigkeit: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Vorerkrankungen sind mit Raten von weit über 40 % extrem weit in der Bevölkerung verbreitet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Bluthochdruck: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Deutlichstes Gefälle zwischen den Geschlechtern – Männer sind mit 45,8 % spürbar häufiger betroffen als Frauen (40,6 %)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Hohes Cholesterin: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ausgeglichenes Bild auf hohem Niveau (Männer 44,2 % vs. Frauen 41,0 %)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Relevanz: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klinischen Parameter zeigen unbereinigt eine massive Nähe zu späteren Diabetes-Fällen</a:t>
            </a:r>
          </a:p>
          <a:p>
            <a:pPr lvl="1"/>
            <a:endParaRPr lang="de-DE" sz="12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EE6E83-90CA-15C9-7E8E-EEA7BE8CA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97" y="1625600"/>
            <a:ext cx="6567776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00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EB45B-E7A8-6426-67BB-D6926A2C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B1D6531-392C-A9F3-82D8-BE295B33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466" y="592866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5. Sozioökonomische Faktoren: Bildung und Einkommen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24E8CA-95CC-149E-D61F-B39D5697EF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16886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9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DBAD469B-58C8-8F8D-021D-19459C0FB852}"/>
              </a:ext>
            </a:extLst>
          </p:cNvPr>
          <p:cNvSpPr txBox="1">
            <a:spLocks/>
          </p:cNvSpPr>
          <p:nvPr/>
        </p:nvSpPr>
        <p:spPr>
          <a:xfrm>
            <a:off x="482868" y="4387174"/>
            <a:ext cx="9137787" cy="205474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Klares Risikogefälle: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 höherer sozialer Status geht im direkten Vergleich mit deutlich niedrigeren Diabetes-Raten einher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Bildungsstand: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Ohne Schulabschluss liegt die Rate bei weit über 20 %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Befragten mit College-Abschluss sinkt sie auf unter 10 %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Einkommensstufe: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In niedrigen Einkommensklassen (unter 15.000 $) ist fast jeder Vierte betroffen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den Gutverdienern (ab 75.000 $) bricht die Rate auf unter 10 % ein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zeigen in fast allen sozialen Stufen leicht höhere Raten als Frauen</a:t>
            </a:r>
          </a:p>
          <a:p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B030B82-F62A-7F24-3DB2-FC13C15BA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426" y="1390860"/>
            <a:ext cx="5306608" cy="283373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91EBC5-01BF-5FC5-D5C4-AB9FEBF5A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221" y="1399537"/>
            <a:ext cx="5874828" cy="2706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044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25D86-326D-00E6-12CD-7DA90E6FF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B6AEE57-10B8-CCDF-3AB7-C65FC193F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078" y="680935"/>
            <a:ext cx="10452637" cy="485097"/>
          </a:xfrm>
        </p:spPr>
        <p:txBody>
          <a:bodyPr>
            <a:normAutofit fontScale="90000"/>
          </a:bodyPr>
          <a:lstStyle/>
          <a:p>
            <a:r>
              <a:rPr lang="de-DE" dirty="0"/>
              <a:t>6. Subjektiver Gesundheitszustand: Körper und Psyche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770FFA-3225-EBB4-2FA0-9016E9EDFF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10</a:t>
            </a:fld>
            <a:endParaRPr lang="de-DE" sz="1200" dirty="0">
              <a:solidFill>
                <a:schemeClr val="tx1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547BB8-66C4-05AF-D0F3-93AEEB519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19" y="1228140"/>
            <a:ext cx="4592412" cy="2241771"/>
          </a:xfrm>
          <a:prstGeom prst="rect">
            <a:avLst/>
          </a:prstGeom>
        </p:spPr>
      </p:pic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50BD70B-2EC9-2B18-BD02-0F6C8A652489}"/>
              </a:ext>
            </a:extLst>
          </p:cNvPr>
          <p:cNvSpPr txBox="1">
            <a:spLocks/>
          </p:cNvSpPr>
          <p:nvPr/>
        </p:nvSpPr>
        <p:spPr>
          <a:xfrm>
            <a:off x="5466544" y="1408221"/>
            <a:ext cx="6323379" cy="19575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Zentraler Indikator Allgemeine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Ausgezeichneter Zustand: Diabetes-Rate unter 3 %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Schlechter Zustand: Rate schießt auf über 30 %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Körperliche Beschwerden: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Deutlicher Risikoanstieg mit jedem zusätzlichen Krankheitstag im Monat (über 24 % Betroffenheit bei dauerhaften Problemen)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Psychische Belastung: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Auffallend flacher Kurvenverlauf im direkten Vergleich (chronische Beschwerden steigern die Rate nur geringfügig von 13 % auf ca. 16 %)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verbleiben über fast alle Stufen hinweg auf einem leicht höheren Risikoniveau</a:t>
            </a:r>
          </a:p>
          <a:p>
            <a:pPr marL="402336" lvl="1" indent="0">
              <a:buNone/>
            </a:pPr>
            <a:endParaRPr lang="de-DE" sz="12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DF2C925-9CA3-9FDD-7FCF-82D36CD4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391" y="3657599"/>
            <a:ext cx="5374025" cy="277238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2C68F60-47CC-01F7-4232-8AD9A73D3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2433" y="3647873"/>
            <a:ext cx="5549124" cy="277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57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635C2-D8EF-B858-8D92-C7217A507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7F1F911-DF27-BC8E-5312-5EA7D8657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96" y="42787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7. Gesamtmodell: Logistische Regression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625360-8F22-B347-80E6-2E67A45244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11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4BFE09B3-1A50-6636-DEEC-E64B9DF0F9BD}"/>
              </a:ext>
            </a:extLst>
          </p:cNvPr>
          <p:cNvSpPr txBox="1">
            <a:spLocks/>
          </p:cNvSpPr>
          <p:nvPr/>
        </p:nvSpPr>
        <p:spPr>
          <a:xfrm>
            <a:off x="7789882" y="2155871"/>
            <a:ext cx="3989742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Modellgüte: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guter Erklärungswert in der Praxis mit einem Pseudo-R² von 20,15 %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Klinische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Bluthochdruck (OR: 2,19) und hohes Cholesterin (OR: 1,83) sind im bereinigten Vergleich die stärksten Risikofaktoren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Kontinuierlicher BMI-Effekt: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Jeder zusätzliche BMI-Punkt steigert das Risiko stetig um 6,5 % (OR: 1,065)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Sozioökonomische Kehrtwende: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Bildung (OR: 0,96) und Einkommen (OR: 0,95) werden im bereinigten Modell zu echten Schutzfaktoren (OR &lt; 1,0)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Statistische Absicherung: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9 Prädiktoren sind hochgradig signifikant (kein Fehlerbalken schneidet die Neutrallinie von 1,0)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B061381-6FD5-A64A-1B41-49224A3C5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94" y="1129553"/>
            <a:ext cx="7395882" cy="5379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25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61A90-9B37-2F87-C5B6-03C214A2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9620048-3CAA-7300-65C5-671780843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3" y="562348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8. Zusammenfassung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AD452D-BD8B-507E-E719-7D4E3647F0E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12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826C274C-D31E-3E22-6254-632681EE5F0A}"/>
              </a:ext>
            </a:extLst>
          </p:cNvPr>
          <p:cNvSpPr txBox="1">
            <a:spLocks/>
          </p:cNvSpPr>
          <p:nvPr/>
        </p:nvSpPr>
        <p:spPr>
          <a:xfrm>
            <a:off x="592199" y="1269696"/>
            <a:ext cx="11111091" cy="2545559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Herz-Kreislauf::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Bluthochdruck (OR: 2,19) und hohes Cholesterin (OR: 1,83) sind die stärksten unabhängigen Diabetes-Treiber.</a:t>
            </a:r>
          </a:p>
          <a:p>
            <a:pPr>
              <a:spcBef>
                <a:spcPts val="0"/>
              </a:spcBef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Kumulative BMI-Gefahr: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Ein einzelner BMI-Punkt wirkt mit +6,5 % gering, summiert sich bei einer Erhöhung um 10 Punkte jedoch auf ca. +88 % Gesamtrisiko.</a:t>
            </a:r>
          </a:p>
          <a:p>
            <a:pPr marL="0" indent="0">
              <a:spcBef>
                <a:spcPts val="0"/>
              </a:spcBef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Status-Verzerrung aufgelöst: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Soziale Faktoren (Bildung/Einkommen) sind keine biologischen Ursachen, sondern im Gesamtmodell schützende Faktoren (OR &lt; 1,0).</a:t>
            </a:r>
          </a:p>
          <a:p>
            <a:pPr marL="0" indent="0"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Praxisrelevanz: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Subjektiv schlechte Gesundheit korreliert extrem stark mit manifestierten Erkrankungen und dient als verlässlicher Frühindikator.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9D711C4-7DB9-8E4E-2768-5D3FB1180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6" y="4053321"/>
            <a:ext cx="5270248" cy="206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76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515174"/>
            <a:ext cx="5486400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Vielen Dank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13CE12A-C093-C9BD-6E39-F31147551124}"/>
              </a:ext>
            </a:extLst>
          </p:cNvPr>
          <p:cNvCxnSpPr>
            <a:cxnSpLocks/>
          </p:cNvCxnSpPr>
          <p:nvPr/>
        </p:nvCxnSpPr>
        <p:spPr>
          <a:xfrm>
            <a:off x="586033" y="3954729"/>
            <a:ext cx="2204464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3_TF78853419_Win32" id="{73C4F1C6-D164-4434-8FDF-48F92F60FB31}" vid="{13AA8AF3-B505-4A9F-9557-DEA5A55D833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2611</Words>
  <Application>Microsoft Office PowerPoint</Application>
  <PresentationFormat>Breitbild</PresentationFormat>
  <Paragraphs>312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Franklin Gothic Book</vt:lpstr>
      <vt:lpstr>Benutzerdefiniert</vt:lpstr>
      <vt:lpstr>Diabetes Risikofaktoren  Explorative Datenanalyse   </vt:lpstr>
      <vt:lpstr>Agenda</vt:lpstr>
      <vt:lpstr>1. Datenbasis</vt:lpstr>
      <vt:lpstr>2. Übersicht der 9 ausgewählten Risikofaktoren </vt:lpstr>
      <vt:lpstr>3.1 Gesamtbevölkerung und Geschlecht </vt:lpstr>
      <vt:lpstr>3.2 Altersgruppen nach Geschlecht </vt:lpstr>
      <vt:lpstr>3.3 Einfluss BMI nach Geschlecht</vt:lpstr>
      <vt:lpstr>4. Medizinischen Faktoren: Bluthochdruck und Cholesterin </vt:lpstr>
      <vt:lpstr>5. Sozioökonomische Faktoren: Bildung und Einkommen </vt:lpstr>
      <vt:lpstr>6. Subjektiver Gesundheitszustand: Körper und Psyche </vt:lpstr>
      <vt:lpstr>7. Gesamtmodell: Logistische Regression </vt:lpstr>
      <vt:lpstr>8. Zusammenfassung 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Kerstin Klueh</dc:creator>
  <cp:lastModifiedBy>Kerstin Klueh</cp:lastModifiedBy>
  <cp:revision>56</cp:revision>
  <dcterms:created xsi:type="dcterms:W3CDTF">2026-06-01T10:21:41Z</dcterms:created>
  <dcterms:modified xsi:type="dcterms:W3CDTF">2026-06-05T08:34:59Z</dcterms:modified>
</cp:coreProperties>
</file>