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5"/>
  </p:notesMasterIdLst>
  <p:sldIdLst>
    <p:sldId id="410" r:id="rId2"/>
    <p:sldId id="408" r:id="rId3"/>
    <p:sldId id="411" r:id="rId4"/>
    <p:sldId id="418" r:id="rId5"/>
    <p:sldId id="420" r:id="rId6"/>
    <p:sldId id="421" r:id="rId7"/>
    <p:sldId id="422" r:id="rId8"/>
    <p:sldId id="419" r:id="rId9"/>
    <p:sldId id="423" r:id="rId10"/>
    <p:sldId id="424" r:id="rId11"/>
    <p:sldId id="415" r:id="rId12"/>
    <p:sldId id="425" r:id="rId13"/>
    <p:sldId id="398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78710" autoAdjust="0"/>
  </p:normalViewPr>
  <p:slideViewPr>
    <p:cSldViewPr snapToGrid="0">
      <p:cViewPr varScale="1">
        <p:scale>
          <a:sx n="66" d="100"/>
          <a:sy n="66" d="100"/>
        </p:scale>
        <p:origin x="1238" y="38"/>
      </p:cViewPr>
      <p:guideLst/>
    </p:cSldViewPr>
  </p:slideViewPr>
  <p:notesTextViewPr>
    <p:cViewPr>
      <p:scale>
        <a:sx n="1" d="1"/>
        <a:sy n="1" d="1"/>
      </p:scale>
      <p:origin x="0" y="-85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D2D997-0D67-4CB7-A72A-C0B2A90E5171}" type="datetimeFigureOut">
              <a:rPr lang="de-DE" smtClean="0"/>
              <a:t>04.06.2026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72C4E-902B-473F-A11B-D9FAD7812FD2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0048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89C7E07-3C67-C64C-8DA0-0404F630397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2453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Ablauf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beginne mit der Datenbasis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zeige danach die unbereinigte Übersicht der Risikofaktoren.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Anschließend betrachten wir die demografischen, medizinischen und sozialen Einflüsse im Detail.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Gesamtmodell der logistischen Regression führt die Faktoren zusammen.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schließe mit einem kurzen Fazit.</a:t>
            </a:r>
          </a:p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89C7E07-3C67-C64C-8DA0-0404F630397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D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61837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Einleitung und Datenbasis</a:t>
            </a:r>
          </a:p>
          <a:p>
            <a:br>
              <a:rPr lang="de-DE" dirty="0"/>
            </a:br>
            <a:r>
              <a:rPr lang="de-DE" dirty="0"/>
              <a:t>Die Daten stammen aus einer Großbefragung der amerikanischen Gesundheitsbehörde CDC mit über 253.000 Beobachtungen. </a:t>
            </a:r>
          </a:p>
          <a:p>
            <a:r>
              <a:rPr lang="de-DE" dirty="0"/>
              <a:t>Der Datensatz ist vollständig besetzt. </a:t>
            </a:r>
          </a:p>
          <a:p>
            <a:r>
              <a:rPr lang="de-DE" dirty="0"/>
              <a:t>Die Zielvariable ist der Diabetes-Status als Ja-Nein-Wert. </a:t>
            </a:r>
          </a:p>
          <a:p>
            <a:r>
              <a:rPr lang="de-DE" dirty="0"/>
              <a:t>Die Struktur eignet sich optimal für eine logistische Regressionsanalyse.</a:t>
            </a:r>
          </a:p>
          <a:p>
            <a:endParaRPr lang="de-DE" dirty="0"/>
          </a:p>
          <a:p>
            <a:r>
              <a:rPr lang="de-DE" dirty="0"/>
              <a:t>Analyse aufgeteilt in: </a:t>
            </a:r>
          </a:p>
          <a:p>
            <a:pPr marL="228600" indent="-228600">
              <a:buAutoNum type="alphaLcParenR"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Rohdaten bivariat</a:t>
            </a:r>
          </a:p>
          <a:p>
            <a:pPr marL="228600" indent="-228600">
              <a:buAutoNum type="alphaLcParenR"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 Gesamtmodell multivariat</a:t>
            </a:r>
            <a:endParaRPr lang="de-DE" b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043812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Der Gesamtdurchschnitt der Stichprobe liegt bei knapp 14 Prozent Diabetes-Anteil. </a:t>
            </a:r>
          </a:p>
          <a:p>
            <a:r>
              <a:rPr lang="de-DE" dirty="0"/>
              <a:t>Unbereinigt liegen alle neun Fokus-Gruppen deutlich über dieser Baseline. </a:t>
            </a:r>
          </a:p>
          <a:p>
            <a:r>
              <a:rPr lang="de-DE" dirty="0"/>
              <a:t>Die höchsten Raten verzeichnen Personen mit schlechtem Gesundheitszustand.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Auffällig hoch sind hier auch noch die Faktoren niedrige Bildung und geringes Einkommen.</a:t>
            </a:r>
            <a:br>
              <a:rPr lang="de-DE" dirty="0"/>
            </a:b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b="1" dirty="0"/>
              <a:t>Balken mit Klasseneinteilungen: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Allgemeine_Gesundheit: 5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Körperliche_Gesundheit: 15-30 Tage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Bildungstand: 1-3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Einkommensstufe 1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BMI: ab 30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Psychische_Gesundheit: 15-30 Tage</a:t>
            </a:r>
          </a:p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Altersgruppe: 8 -13; ab 55 Jahre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dirty="0"/>
            </a:br>
            <a:r>
              <a:rPr lang="de-DE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Risikofaktoren (als Heatmap)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Diabetes_Status,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Bluthochdruck,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Cholesterin_hoch,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Cholesterin_Check,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Raucher_Status,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Schlaganfall,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Herzerkrankung_Infarkt,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Sportliche_Aktivitaet,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Obst_Konsum,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Gemuese_Konsum,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Hoher_Alkoholkonsum,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Krankenversicherung,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Kein_Arzt_wegen_Kosten,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Allgemeine_Gesundheit,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effectLst/>
              </a:rPr>
              <a:t> 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Psychische_Gesundheit,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Koerperliche_Gesundheit,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Einschränkung_Gehen,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Geschlecht,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Altersgruppe,</a:t>
            </a:r>
            <a:r>
              <a:rPr lang="de-DE" dirty="0">
                <a:effectLst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Bildungsstand,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Einkommensstufe</a:t>
            </a:r>
            <a:r>
              <a:rPr lang="de-DE" dirty="0">
                <a:effectLst/>
              </a:rPr>
              <a:t> 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71170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Verteilung nach Geschlecht und Basispopulation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Stichprobe hat einen leichten Frauenüberschuss von 56 Prozent.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reale Erkrankungsrisiko liegt bei den Männern mit 15,2 Prozent etwas höher als bei den Frauen mit 13,0 Prozent.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Bezogen auf die Gesamtbevölkerung stellen nicht-diabetische Frauen und Männer die absoluten Mehrheiten dar.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77672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Altersgruppen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Alter korreliert direkt mit dem Erkrankungsrisiko.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 35 Jahren ist Diabetes mit unter 2 Prozent extrem selten.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Ab Mitte 40 beschleunigen sich die Zahlen steil nach oben.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Höchstwert liegt bei den 65- bis 79-Jährigen mit über 25 Prozent Betroffenheit. </a:t>
            </a:r>
          </a:p>
          <a:p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Männer dominieren ab dem mittleren Alter.</a:t>
            </a:r>
            <a:br>
              <a:rPr lang="de-DE" dirty="0"/>
            </a:br>
            <a:endParaRPr lang="de-DE" dirty="0"/>
          </a:p>
          <a:p>
            <a:r>
              <a:rPr lang="de-DE" b="1" dirty="0"/>
              <a:t>Altersgruppen:</a:t>
            </a:r>
          </a:p>
          <a:p>
            <a:endParaRPr lang="de-DE" b="1" dirty="0"/>
          </a:p>
          <a:p>
            <a:r>
              <a:rPr lang="de-DE" b="1" dirty="0"/>
              <a:t>Altersgruppe  Alter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de-DE" dirty="0">
                <a:effectLst/>
              </a:rPr>
              <a:t>                      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18 - 24</a:t>
            </a:r>
            <a:r>
              <a:rPr lang="de-DE" dirty="0">
                <a:effectLst/>
              </a:rPr>
              <a:t> </a:t>
            </a:r>
          </a:p>
          <a:p>
            <a:pPr marL="228600" indent="-228600">
              <a:buAutoNum type="arabicPlain" startAt="2"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          25 - 29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30 - 34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35 - 39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40 - 44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45 - 49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    	50 - 54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55 - 59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</a:t>
            </a:r>
            <a:r>
              <a:rPr lang="de-DE" dirty="0">
                <a:effectLst/>
              </a:rPr>
              <a:t>   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60 - 64</a:t>
            </a:r>
            <a:r>
              <a:rPr lang="de-DE" dirty="0">
                <a:effectLst/>
              </a:rPr>
              <a:t> </a:t>
            </a:r>
          </a:p>
          <a:p>
            <a:pPr marL="228600" indent="-228600">
              <a:buAutoNum type="arabicPlain" startAt="10"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	65 - 69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11 </a:t>
            </a:r>
            <a:r>
              <a:rPr lang="de-DE" dirty="0">
                <a:effectLst/>
              </a:rPr>
              <a:t>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70 - 74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 	75 - 79</a:t>
            </a:r>
            <a:r>
              <a:rPr lang="de-DE" dirty="0">
                <a:effectLst/>
              </a:rPr>
              <a:t> </a:t>
            </a:r>
          </a:p>
          <a:p>
            <a:pPr marL="0" indent="0">
              <a:buNone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</a:t>
            </a:r>
            <a:r>
              <a:rPr lang="de-DE" dirty="0">
                <a:effectLst/>
              </a:rPr>
              <a:t>  	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80 oder älter</a:t>
            </a:r>
            <a:r>
              <a:rPr lang="de-DE" dirty="0">
                <a:effectLst/>
              </a:rPr>
              <a:t> </a:t>
            </a:r>
            <a:endParaRPr lang="de-DE" b="1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636691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Körpergewicht: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Risiko steigt nicht linear, sondern bricht ab den Adipositas-Grenzbereichen aus.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 Normalgewicht sind es unter 5 Prozent, bei Adipositas Grad III bereits über 34 Prozent.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Schere öffnet sich besonders im Übergewichtsbereich.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Männer liegen konstant über den Raten der Frauen.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BMI-Einteilung nach WHO: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BMI_Kategorie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Untergewicht             &lt; 18.5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Normalgewicht             18.5 - 24.9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Übergewicht 	              25.0 - 29.9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Adipositas Grad I          30.0 - 34.9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Adipositas Grad II         35.0 - 39.9</a:t>
            </a:r>
            <a:endParaRPr lang="de-DE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Adipositas Grad III      &gt;= 40.0</a:t>
            </a:r>
            <a:endParaRPr lang="de-DE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Interessante Zahlen zum Vergleich:</a:t>
            </a:r>
            <a:b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50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162,0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60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194,4 kg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BMI 70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226,8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80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259,2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90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291,6 kg   </a:t>
            </a:r>
            <a:r>
              <a:rPr lang="de-D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BMI 98</a:t>
            </a: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317,5 kg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85984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Medizinischen Indikatoren:  Bluthochdruck und hohes Cholesterin.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 Probleme betreffen weit über 40 % der Bevölkerung.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Bluthochdruck sehen wir das größte Gefälle zwischen den Geschlechtern.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Fast 46 % der Männer haben mit Bluthochdruck zu kämpfen, im Vergleich zu knapp 41 % bei den Frauen. 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Cholesterin liegen beide Geschlechter etwas näher zusammen, aber auch hier führen die Männer leicht. </a:t>
            </a:r>
          </a:p>
          <a:p>
            <a:endParaRPr lang="de-DE" dirty="0"/>
          </a:p>
          <a:p>
            <a:r>
              <a:rPr lang="de-DE" dirty="0"/>
              <a:t>Bluthochdruck und hohes Cholesterin – Ja/Nein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8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47911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Bildung und Einkommen.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Schaut man sich die reinen Rohdaten an, sieht man bei beiden Grafiken eine ganz klare Treppe nach unten.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bedeutet: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 niedriger die Bildung und je geringer das Einkommen, desto höher ist die Häufigkeit von Diabetes.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 kein Geld hat oder keinen Abschluss besitzt, überschreitet in den reinen Zahlen fast die 25-%-Marke.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 den Gutverdienern und Akademikern fällt die Betroffenheit dagegen auf unter 10 %.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 hier sind Männer in fast jeder Stufe etwas häufiger betroffen als Frauen. 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 Vorsicht: Ob Bildung und Einkommen wirklich die Ursache sind, klären wir gleich im Gesamtmodell.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de-DE" sz="1200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Eingruppierung Bildung</a:t>
            </a:r>
            <a:b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 -  Never attended school or only kindergarten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 -  Grades 1 through 8 (Elementary)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 -  Grades 9 through 11 (Some high school)</a:t>
            </a:r>
          </a:p>
          <a:p>
            <a:pPr marL="228600" indent="-228600" fontAlgn="base">
              <a:buAutoNum type="arabicPlain" startAt="4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Grade 12 or GED (High school graduate)</a:t>
            </a:r>
          </a:p>
          <a:p>
            <a:pPr marL="228600" indent="-228600" fontAlgn="base">
              <a:buAutoNum type="arabicPlain" startAt="4"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 -  College 1 year to 3 years (Some college or technical school)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  -  College 4 years or more (College graduate)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de-DE" b="1" dirty="0"/>
              <a:t>Eingruppierung Haushaltseinkommen</a:t>
            </a:r>
            <a:br>
              <a:rPr lang="de-DE" dirty="0"/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 -  Less than $10,000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 -  Less than $15,000 ($10,000 to less than $15,000)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 -  Less than $20,000 ($15,000 to less than $20,000)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 -  Less than $25,000 ($20,000 to less than $25,000)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 -  Less than $35,000 ($25,000 to less than $35,000)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  -  Less than $50,000 ($35,000 to less than $50,000)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  -  Less than $75,000 ($50,000 to less than $75,000)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  - $75,000 or more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224556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Subjektives Befinden:  </a:t>
            </a: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Aufgeteilt in allgemeine, körperliche und psychische Gesundheit.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 der allgemeinen Gesundheit gibt es de extremsten Hebel in den Rohdaten: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 Wer sich ausgezeichnet fühlt, hat fast nie Diabetes.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 Wer sich schlecht fühlt, ist zu über 30 % betroffen.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 bei den körperlich schlechten Tagen steigt die Kurve mit jedem einzelnen Tag kontinuierlich an. 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Völlig überraschend ist dagegen das Ergebnis der psychischen Gesundheit: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Linie verläuft im direkten Vergleich auffallend flach.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 jemand null oder dreißig psychisch schlechte Tage im Monat hat, verändert die unbereinigte Diabetes-Rate kaum. </a:t>
            </a:r>
          </a:p>
          <a:p>
            <a:pPr lvl="1"/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Psyche scheint in den Rohdaten also eine untergeordnete Rolle zu spielen.</a:t>
            </a:r>
          </a:p>
          <a:p>
            <a:br>
              <a:rPr lang="de-DE" dirty="0"/>
            </a:br>
            <a:endParaRPr lang="de-DE" dirty="0"/>
          </a:p>
          <a:p>
            <a:r>
              <a:rPr lang="de-DE" dirty="0"/>
              <a:t>Eingruppierung der Gesundheitszustände</a:t>
            </a:r>
          </a:p>
          <a:p>
            <a:endParaRPr lang="de-DE" dirty="0"/>
          </a:p>
          <a:p>
            <a:r>
              <a:rPr lang="de-DE" dirty="0"/>
              <a:t>Allgemeine Gesundheit: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1 -  Ausgezeichnet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2 - Sehr gut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3 - Gut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4 - Weniger gut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5 - Schlecht </a:t>
            </a:r>
          </a:p>
          <a:p>
            <a:endParaRPr lang="de-DE" dirty="0"/>
          </a:p>
          <a:p>
            <a:r>
              <a:rPr lang="de-DE" dirty="0"/>
              <a:t>Körperliche Gesundheit – Wertebereich 0 bis 30 (exakte Anzahl der Tage gut/schlecht)</a:t>
            </a:r>
            <a:br>
              <a:rPr lang="de-DE" dirty="0"/>
            </a:br>
            <a:endParaRPr lang="de-DE" dirty="0"/>
          </a:p>
          <a:p>
            <a:r>
              <a:rPr lang="de-DE" dirty="0"/>
              <a:t>Psychische Gesundheit – Wertebereich 0 bis 30 (exakte Anzahl der Tage gut/schlecht)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74221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Wichtigster Teil der Analyse: das Gesamtmodell. (logistische Regression)</a:t>
            </a:r>
          </a:p>
          <a:p>
            <a:endParaRPr lang="de-DE" dirty="0"/>
          </a:p>
          <a:p>
            <a:r>
              <a:rPr lang="de-DE" dirty="0"/>
              <a:t>Die logistische Regression liefert mit einem Pseudo-R² von über 20 % einen sehr guten Erklärungswert. </a:t>
            </a:r>
          </a:p>
          <a:p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Bluthochdruck und hohes Cholesterin sind die massivsten Treiber – Bluthochdruck verdoppelt das Risiko im bereinigten Vergleich sogar.</a:t>
            </a:r>
          </a:p>
          <a:p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BMI sehen wir scheinbar einen kleinen Balken, aber Achtung!!!  Dieser Effekt gilt pro einzelnem Punkt.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Rechnet man das auf 10 Punkte hoch, steigt das Risiko kumulativ um fast 88 %! </a:t>
            </a:r>
          </a:p>
          <a:p>
            <a:endParaRPr lang="de-DE" dirty="0"/>
          </a:p>
          <a:p>
            <a:r>
              <a:rPr lang="de-DE" dirty="0"/>
              <a:t>Ein interessanter Punkt liegt bei den Balken links der Linie: </a:t>
            </a:r>
          </a:p>
          <a:p>
            <a:r>
              <a:rPr lang="de-DE" dirty="0"/>
              <a:t>Bildung und Einkommen, die in den Rohdaten oben noch wie Risikofaktoren wirkten, kehren sich im Gesamtmodell in Schutzfaktoren um. </a:t>
            </a:r>
          </a:p>
          <a:p>
            <a:r>
              <a:rPr lang="de-DE" dirty="0"/>
              <a:t>Das beweist, dass ein geringer Status nicht die biologische Ursache für Diabetes ist, sondern dieser statistisch lediglich mit einem höheren Bluthochdruck, Alter oder höherem BMI einhergeht. </a:t>
            </a:r>
          </a:p>
          <a:p>
            <a:r>
              <a:rPr lang="de-DE" dirty="0"/>
              <a:t>Da kein einziger Fehlerbalken die 1,0 berührt, sind die gezeigten Effekte statistisch korrekt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1763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 Bluthochdruck , hohes Cholesterin oder einen hohen BMI hat, trägt das statistisch höchste Diabetes-Risiko.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Körpergewicht zeigt die Tabelle rechts eindrucksvoll die unsichtbare Hebelwirkung: </a:t>
            </a:r>
          </a:p>
          <a:p>
            <a:r>
              <a:rPr lang="de-DE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Eine Erhöhung des BMI um 10 Punkte treibt das Risiko um fast 88 % in die Höhe.</a:t>
            </a:r>
          </a:p>
          <a:p>
            <a:endParaRPr lang="de-DE" sz="1200" b="0" i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Zudem konnte die soziale Verzerrung aufgelöst werden.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geringer Status (Bildung/Einkommen)  ist nicht die Ursache für Diabetes, sondern korreliert in der Bevölkerung schlicht mit einem höheren Alter und Gewicht. </a:t>
            </a:r>
          </a:p>
          <a:p>
            <a: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Modell belegt, dass Prävention primär an den klinischen Parametern und dem Gewicht ansetzen muss.</a:t>
            </a:r>
            <a:b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de-DE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Tabelle: BMI-Punkte</a:t>
            </a:r>
          </a:p>
          <a:p>
            <a:b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de-DE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Zusätzliche BMI-Punkte | Mathematische Formel | Multiplikator (Odds Ratio gesamt) | Risiko-Anstieg in % 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:--------------------: | :------------------: | :-------------------------------: | :-----------------: 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**+ 0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1,065⁰               | 1,000                             | Baseline (0 %)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**+ 1 Punkt**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 | 1,065¹               | 1,065                             | + 6,5 %             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**+ 2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1,065²               | 1,134                             | + 13,4 %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**+ 3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1,065³               | 1,208                             | + 20,8 %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**+ 4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1,065⁴               | 1,286                             | + 28,6 %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**+ 5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1,065⁵               | 1,370                             | + 37,0 %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**+ 6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1,065⁶               | 1,459                             | + 45,9 %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**+ 7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1,065⁷               | 1,554                             | + 55,4 %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**+ 8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1,065⁸               | 1,655                             | + 65,5 %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**+ 9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 | 1,065⁹               | 1,763                             | + 76,3 %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**+ 10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| 1,065¹⁰              | 1,877                             | + 87,7 %            |</a:t>
            </a:r>
          </a:p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de-DE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**+ 12 Punkte**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       | 1,065¹²              | 2,129                             | + 112,9 % (Risiko verdoppelt!) |</a:t>
            </a:r>
          </a:p>
          <a:p>
            <a:endParaRPr lang="de-DE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C72C4E-902B-473F-A11B-D9FAD7812FD2}" type="slidenum">
              <a:rPr lang="de-DE" smtClean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4122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A89C7E07-3C67-C64C-8DA0-0404F6303970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65923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 dirty="0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1568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A4011-A567-5736-2A9B-D636F440D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0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F5EC863-4BA0-DAA7-4FB3-10AE4AE25DED}"/>
              </a:ext>
            </a:extLst>
          </p:cNvPr>
          <p:cNvSpPr/>
          <p:nvPr userDrawn="1"/>
        </p:nvSpPr>
        <p:spPr>
          <a:xfrm>
            <a:off x="0" y="6571716"/>
            <a:ext cx="12192000" cy="2862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CC4763-022C-7842-467E-983F5B96E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32690" y="6648628"/>
            <a:ext cx="314332" cy="145279"/>
          </a:xfrm>
        </p:spPr>
        <p:txBody>
          <a:bodyPr/>
          <a:lstStyle>
            <a:lvl1pPr>
              <a:defRPr sz="900" b="0">
                <a:solidFill>
                  <a:schemeClr val="tx1"/>
                </a:solidFill>
              </a:defRPr>
            </a:lvl1pPr>
          </a:lstStyle>
          <a:p>
            <a:fld id="{294A09A9-5501-47C1-A89A-A340965A2BE2}" type="slidenum">
              <a:rPr lang="de-DE" smtClean="0"/>
              <a:pPr/>
              <a:t>‹Nr.›</a:t>
            </a:fld>
            <a:endParaRPr lang="de-DE" sz="900" dirty="0"/>
          </a:p>
        </p:txBody>
      </p:sp>
    </p:spTree>
    <p:extLst>
      <p:ext uri="{BB962C8B-B14F-4D97-AF65-F5344CB8AC3E}">
        <p14:creationId xmlns:p14="http://schemas.microsoft.com/office/powerpoint/2010/main" val="3382929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ECD0EC5C-1475-3FDE-430E-0F961E1FB194}"/>
              </a:ext>
            </a:extLst>
          </p:cNvPr>
          <p:cNvSpPr/>
          <p:nvPr userDrawn="1"/>
        </p:nvSpPr>
        <p:spPr>
          <a:xfrm>
            <a:off x="0" y="6332220"/>
            <a:ext cx="12192000" cy="525780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D6E34D2-1FAE-D97F-C657-3258D315D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7ACA875-6F9D-88FF-48FB-DF1D4BEF0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de-DE" dirty="0">
              <a:latin typeface="+mn-lt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262499-7D38-7E70-8792-13ABEEF4A3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794361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Form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" name="Freihand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2" name="Titel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 spc="50" baseline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de-DE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3" name="Foliennummernplatzhalt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42" name="Datumsplatzhalt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302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Autofit/>
          </a:bodyPr>
          <a:lstStyle>
            <a:lvl1pPr marL="0" indent="0" algn="ctr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90017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>
          <p15:clr>
            <a:srgbClr val="FBAE40"/>
          </p15:clr>
        </p15:guide>
        <p15:guide id="4" pos="4560">
          <p15:clr>
            <a:srgbClr val="FBAE40"/>
          </p15:clr>
        </p15:guide>
        <p15:guide id="8" orient="horz" pos="18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2640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usammenfassu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ihand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32" name="Titel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063095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2682912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9436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35184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Form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8" name="Freihand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9" name="Freihand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de-DE"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de-DE"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de-DE" sz="2000"/>
            </a:lvl3pPr>
            <a:lvl4pPr marL="1371600" indent="0">
              <a:spcBef>
                <a:spcPts val="1800"/>
              </a:spcBef>
              <a:buFont typeface="+mj-lt"/>
              <a:buNone/>
              <a:defRPr lang="de-DE"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endParaRPr lang="de-DE" dirty="0"/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0113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Bi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94505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Tabel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ihand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5" name="Freihand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7" name="Freihand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457200" indent="0">
              <a:spcBef>
                <a:spcPts val="1800"/>
              </a:spcBef>
              <a:buNone/>
              <a:defRPr lang="de-DE" sz="2000"/>
            </a:lvl2pPr>
            <a:lvl3pPr marL="914400" indent="0">
              <a:spcBef>
                <a:spcPts val="1800"/>
              </a:spcBef>
              <a:buNone/>
              <a:defRPr lang="de-DE" sz="2000"/>
            </a:lvl3pPr>
            <a:lvl4pPr marL="1371600" indent="0">
              <a:spcBef>
                <a:spcPts val="1800"/>
              </a:spcBef>
              <a:buNone/>
              <a:defRPr lang="de-DE" sz="2000"/>
            </a:lvl4pPr>
            <a:lvl5pPr marL="1828800" indent="0">
              <a:spcBef>
                <a:spcPts val="1800"/>
              </a:spcBef>
              <a:buNone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015024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>
              <a:spcBef>
                <a:spcPts val="18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0624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9" name="Tabellenplatzhalt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 rtlCol="0">
            <a:noAutofit/>
          </a:bodyPr>
          <a:lstStyle>
            <a:lvl1pPr>
              <a:defRPr lang="de-DE"/>
            </a:lvl1pPr>
          </a:lstStyle>
          <a:p>
            <a:pPr rtl="0"/>
            <a:r>
              <a:rPr lang="de-DE" dirty="0"/>
              <a:t>Tabelle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4568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78296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 dirty="0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0050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9A4011-A567-5736-2A9B-D636F440D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F5EC863-4BA0-DAA7-4FB3-10AE4AE25DED}"/>
              </a:ext>
            </a:extLst>
          </p:cNvPr>
          <p:cNvSpPr/>
          <p:nvPr userDrawn="1"/>
        </p:nvSpPr>
        <p:spPr>
          <a:xfrm>
            <a:off x="0" y="6243782"/>
            <a:ext cx="12192000" cy="614218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36F576E-78B9-A930-E9B1-69FD6883E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de-DE" dirty="0">
              <a:latin typeface="+mn-lt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CC4763-022C-7842-467E-983F5B96E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24186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ECD0EC5C-1475-3FDE-430E-0F961E1FB194}"/>
              </a:ext>
            </a:extLst>
          </p:cNvPr>
          <p:cNvSpPr/>
          <p:nvPr userDrawn="1"/>
        </p:nvSpPr>
        <p:spPr>
          <a:xfrm>
            <a:off x="0" y="6332220"/>
            <a:ext cx="12192000" cy="525780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D6E34D2-1FAE-D97F-C657-3258D315D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7ACA875-6F9D-88FF-48FB-DF1D4BEF0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de-DE" dirty="0">
              <a:latin typeface="+mn-lt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262499-7D38-7E70-8792-13ABEEF4A33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736597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806C6F65-35CD-D64B-992A-0C1C1E003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7" name="AutoForm 24">
              <a:extLst>
                <a:ext uri="{FF2B5EF4-FFF2-40B4-BE49-F238E27FC236}">
                  <a16:creationId xmlns:a16="http://schemas.microsoft.com/office/drawing/2014/main" id="{CFD467E2-FF13-7E4F-BEF9-EA1A17665B2D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8" name="Freihandform 7">
              <a:extLst>
                <a:ext uri="{FF2B5EF4-FFF2-40B4-BE49-F238E27FC236}">
                  <a16:creationId xmlns:a16="http://schemas.microsoft.com/office/drawing/2014/main" id="{CA85A327-3157-B442-993A-6900F71249AC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9" name="Freihandform 8">
              <a:extLst>
                <a:ext uri="{FF2B5EF4-FFF2-40B4-BE49-F238E27FC236}">
                  <a16:creationId xmlns:a16="http://schemas.microsoft.com/office/drawing/2014/main" id="{9A459CB4-74AF-0544-AB1E-7CC6D10F84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95A20BFD-9142-D64A-A78A-61B75FCA0D76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B80736DF-C890-DB47-AEAA-D3D92505E632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2" name="Titel 1">
            <a:extLst>
              <a:ext uri="{FF2B5EF4-FFF2-40B4-BE49-F238E27FC236}">
                <a16:creationId xmlns:a16="http://schemas.microsoft.com/office/drawing/2014/main" id="{39F93F26-ED5C-E74E-BFBD-E3054DC1B9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89572"/>
            <a:ext cx="6787747" cy="159350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 spc="50" baseline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186153BD-9D2B-47EB-3553-1D3F6663B2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4359" y="2281918"/>
            <a:ext cx="6787747" cy="3708517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lnSpc>
                <a:spcPct val="80000"/>
              </a:lnSpc>
              <a:spcBef>
                <a:spcPts val="2200"/>
              </a:spcBef>
              <a:buFont typeface="Arial" panose="020B0604020202020204" pitchFamily="34" charset="0"/>
              <a:buChar char="•"/>
              <a:defRPr lang="de-DE" sz="2400" b="1" i="0" kern="1200" dirty="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indent="-283464">
              <a:spcBef>
                <a:spcPts val="6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3" name="Foliennummernplatzhalter 42">
            <a:extLst>
              <a:ext uri="{FF2B5EF4-FFF2-40B4-BE49-F238E27FC236}">
                <a16:creationId xmlns:a16="http://schemas.microsoft.com/office/drawing/2014/main" id="{D80CCC8F-9CF1-9621-04EB-DFA68FEE42D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42" name="Datumsplatzhalter 41">
            <a:extLst>
              <a:ext uri="{FF2B5EF4-FFF2-40B4-BE49-F238E27FC236}">
                <a16:creationId xmlns:a16="http://schemas.microsoft.com/office/drawing/2014/main" id="{29CE2856-DB8F-5603-C085-74C70560FAC8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979826C1-7A52-DA25-F422-EE62DED7D1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0552" cy="0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65883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stitel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79D0555-EBDC-B53A-212D-A5921795FE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80543"/>
          </a:xfrm>
          <a:custGeom>
            <a:avLst/>
            <a:gdLst>
              <a:gd name="connsiteX0" fmla="*/ 6309360 w 12192000"/>
              <a:gd name="connsiteY0" fmla="*/ 3951843 h 6880543"/>
              <a:gd name="connsiteX1" fmla="*/ 6309360 w 12192000"/>
              <a:gd name="connsiteY1" fmla="*/ 4052427 h 6880543"/>
              <a:gd name="connsiteX2" fmla="*/ 8442960 w 12192000"/>
              <a:gd name="connsiteY2" fmla="*/ 4052427 h 6880543"/>
              <a:gd name="connsiteX3" fmla="*/ 8442960 w 12192000"/>
              <a:gd name="connsiteY3" fmla="*/ 3951843 h 6880543"/>
              <a:gd name="connsiteX4" fmla="*/ 0 w 12192000"/>
              <a:gd name="connsiteY4" fmla="*/ 0 h 6880543"/>
              <a:gd name="connsiteX5" fmla="*/ 12192000 w 12192000"/>
              <a:gd name="connsiteY5" fmla="*/ 0 h 6880543"/>
              <a:gd name="connsiteX6" fmla="*/ 12192000 w 12192000"/>
              <a:gd name="connsiteY6" fmla="*/ 6880543 h 6880543"/>
              <a:gd name="connsiteX7" fmla="*/ 0 w 12192000"/>
              <a:gd name="connsiteY7" fmla="*/ 6880543 h 6880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80543">
                <a:moveTo>
                  <a:pt x="6309360" y="3951843"/>
                </a:moveTo>
                <a:lnTo>
                  <a:pt x="6309360" y="4052427"/>
                </a:lnTo>
                <a:lnTo>
                  <a:pt x="8442960" y="4052427"/>
                </a:lnTo>
                <a:lnTo>
                  <a:pt x="8442960" y="395184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80543"/>
                </a:lnTo>
                <a:lnTo>
                  <a:pt x="0" y="6880543"/>
                </a:lnTo>
                <a:close/>
              </a:path>
            </a:pathLst>
          </a:custGeom>
        </p:spPr>
        <p:txBody>
          <a:bodyPr wrap="square" tIns="182880" rtlCol="0">
            <a:noAutofit/>
          </a:bodyPr>
          <a:lstStyle>
            <a:lvl1pPr marL="0" indent="0" algn="ctr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8D492973-78E3-D34E-835E-CF2D451701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59" y="444933"/>
            <a:ext cx="5477479" cy="329184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60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96BA398-1ED2-1FCA-63B9-8915A8C7A5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09360" y="3951843"/>
            <a:ext cx="2133600" cy="10058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289574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104">
          <p15:clr>
            <a:srgbClr val="FBAE40"/>
          </p15:clr>
        </p15:guide>
        <p15:guide id="3" pos="4344">
          <p15:clr>
            <a:srgbClr val="FBAE40"/>
          </p15:clr>
        </p15:guide>
        <p15:guide id="4" pos="4560">
          <p15:clr>
            <a:srgbClr val="FBAE40"/>
          </p15:clr>
        </p15:guide>
        <p15:guide id="8" orient="horz" pos="1848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99835" y="43052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A9973BC6-F6E5-0B3B-C8AB-0AC4020D4E8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-11113"/>
            <a:ext cx="5791200" cy="6880226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99835" y="456860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9169ED6-4B82-6844-119F-AC15CDF2D3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52571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usammenfassu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C57F1500-1A16-D1EF-4F0C-030852B29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D07A0BE-3890-193E-9439-F294E61A7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11" name="Freihandform 19">
              <a:extLst>
                <a:ext uri="{FF2B5EF4-FFF2-40B4-BE49-F238E27FC236}">
                  <a16:creationId xmlns:a16="http://schemas.microsoft.com/office/drawing/2014/main" id="{C05217ED-C258-E6CE-BA7F-28A6EA41BCD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20">
              <a:extLst>
                <a:ext uri="{FF2B5EF4-FFF2-40B4-BE49-F238E27FC236}">
                  <a16:creationId xmlns:a16="http://schemas.microsoft.com/office/drawing/2014/main" id="{F3E11A1F-14DD-BA35-D7D7-4D4ADEAA3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21">
              <a:extLst>
                <a:ext uri="{FF2B5EF4-FFF2-40B4-BE49-F238E27FC236}">
                  <a16:creationId xmlns:a16="http://schemas.microsoft.com/office/drawing/2014/main" id="{F14541B0-973F-7E21-1019-D2FB83C8C0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32" name="Titel 1">
            <a:extLst>
              <a:ext uri="{FF2B5EF4-FFF2-40B4-BE49-F238E27FC236}">
                <a16:creationId xmlns:a16="http://schemas.microsoft.com/office/drawing/2014/main" id="{467E05B6-B7CB-1E4F-96BA-4B8CFE8B63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02875"/>
            <a:ext cx="10873740" cy="168020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6FE0DC0-B0D7-F4D6-8038-177AD7A8C21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57600" y="2282008"/>
            <a:ext cx="7810500" cy="3699328"/>
          </a:xfrm>
        </p:spPr>
        <p:txBody>
          <a:bodyPr lIns="0" tIns="228600" rIns="0" bIns="0" rtlCol="0">
            <a:normAutofit/>
          </a:bodyPr>
          <a:lstStyle>
            <a:lvl1pPr marL="283464" indent="-283464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D58739-4346-5104-B1AC-89ED035912A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9272B8D-F380-9F1A-C8E6-BDD2352B1763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984886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304">
          <p15:clr>
            <a:srgbClr val="FBAE40"/>
          </p15:clr>
        </p15:guide>
        <p15:guide id="4" pos="5736">
          <p15:clr>
            <a:srgbClr val="FBAE40"/>
          </p15:clr>
        </p15:guide>
        <p15:guide id="5" pos="1944">
          <p15:clr>
            <a:srgbClr val="FBAE40"/>
          </p15:clr>
        </p15:guide>
        <p15:guide id="6" pos="4008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440">
          <p15:clr>
            <a:srgbClr val="FBAE40"/>
          </p15:clr>
        </p15:guide>
        <p15:guide id="9" orient="horz" pos="552">
          <p15:clr>
            <a:srgbClr val="FBAE40"/>
          </p15:clr>
        </p15:guide>
        <p15:guide id="10" pos="5352">
          <p15:clr>
            <a:srgbClr val="FBAE40"/>
          </p15:clr>
        </p15:guide>
        <p15:guide id="11" pos="3648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09904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1" y="758752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69706A2-3726-FE4E-B923-E75D48597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09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9905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9795088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zwei Inhalt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78129"/>
            <a:ext cx="9778365" cy="149459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F14DA3C5-63E4-BAFB-1D68-47F71EEEE53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9436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BD11386D-847E-8CF5-E56A-42E80A65A08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881898" y="2676525"/>
            <a:ext cx="4490827" cy="3597470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1058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42E558A9-6DD6-E21D-3A8F-6707E1DD1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362700" y="0"/>
            <a:ext cx="5829298" cy="3235602"/>
            <a:chOff x="5612972" y="1"/>
            <a:chExt cx="6615961" cy="3672246"/>
          </a:xfrm>
        </p:grpSpPr>
        <p:sp>
          <p:nvSpPr>
            <p:cNvPr id="12" name="AutoForm 24">
              <a:extLst>
                <a:ext uri="{FF2B5EF4-FFF2-40B4-BE49-F238E27FC236}">
                  <a16:creationId xmlns:a16="http://schemas.microsoft.com/office/drawing/2014/main" id="{3FC994E4-318C-1E66-B4E4-8F8FD08E09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2972" y="1"/>
              <a:ext cx="4408998" cy="3672246"/>
            </a:xfrm>
            <a:custGeom>
              <a:avLst/>
              <a:gdLst>
                <a:gd name="T0" fmla="+- 0 8372 6586"/>
                <a:gd name="T1" fmla="*/ T0 w 3578"/>
                <a:gd name="T2" fmla="*/ 591 h 2980"/>
                <a:gd name="T3" fmla="+- 0 7780 6586"/>
                <a:gd name="T4" fmla="*/ T3 w 3578"/>
                <a:gd name="T5" fmla="*/ 0 h 2980"/>
                <a:gd name="T6" fmla="+- 0 6586 6586"/>
                <a:gd name="T7" fmla="*/ T6 w 3578"/>
                <a:gd name="T8" fmla="*/ 0 h 2980"/>
                <a:gd name="T9" fmla="+- 0 7774 6586"/>
                <a:gd name="T10" fmla="*/ T9 w 3578"/>
                <a:gd name="T11" fmla="*/ 1188 h 2980"/>
                <a:gd name="T12" fmla="+- 0 8372 6586"/>
                <a:gd name="T13" fmla="*/ T12 w 3578"/>
                <a:gd name="T14" fmla="*/ 591 h 2980"/>
                <a:gd name="T15" fmla="+- 0 10163 6586"/>
                <a:gd name="T16" fmla="*/ T15 w 3578"/>
                <a:gd name="T17" fmla="*/ 2383 h 2980"/>
                <a:gd name="T18" fmla="+- 0 9566 6586"/>
                <a:gd name="T19" fmla="*/ T18 w 3578"/>
                <a:gd name="T20" fmla="*/ 1786 h 2980"/>
                <a:gd name="T21" fmla="+- 0 8969 6586"/>
                <a:gd name="T22" fmla="*/ T21 w 3578"/>
                <a:gd name="T23" fmla="*/ 2383 h 2980"/>
                <a:gd name="T24" fmla="+- 0 9566 6586"/>
                <a:gd name="T25" fmla="*/ T24 w 3578"/>
                <a:gd name="T26" fmla="*/ 2980 h 2980"/>
                <a:gd name="T27" fmla="+- 0 10163 6586"/>
                <a:gd name="T28" fmla="*/ T27 w 3578"/>
                <a:gd name="T29" fmla="*/ 2383 h 2980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  <a:cxn ang="0">
                  <a:pos x="T13" y="T14"/>
                </a:cxn>
                <a:cxn ang="0">
                  <a:pos x="T16" y="T17"/>
                </a:cxn>
                <a:cxn ang="0">
                  <a:pos x="T19" y="T20"/>
                </a:cxn>
                <a:cxn ang="0">
                  <a:pos x="T22" y="T23"/>
                </a:cxn>
                <a:cxn ang="0">
                  <a:pos x="T25" y="T26"/>
                </a:cxn>
                <a:cxn ang="0">
                  <a:pos x="T28" y="T29"/>
                </a:cxn>
              </a:cxnLst>
              <a:rect l="0" t="0" r="r" b="b"/>
              <a:pathLst>
                <a:path w="3578" h="2980">
                  <a:moveTo>
                    <a:pt x="1786" y="591"/>
                  </a:moveTo>
                  <a:lnTo>
                    <a:pt x="1194" y="0"/>
                  </a:lnTo>
                  <a:lnTo>
                    <a:pt x="0" y="0"/>
                  </a:lnTo>
                  <a:lnTo>
                    <a:pt x="1188" y="1188"/>
                  </a:lnTo>
                  <a:lnTo>
                    <a:pt x="1786" y="591"/>
                  </a:lnTo>
                  <a:moveTo>
                    <a:pt x="3577" y="2383"/>
                  </a:moveTo>
                  <a:lnTo>
                    <a:pt x="2980" y="1786"/>
                  </a:lnTo>
                  <a:lnTo>
                    <a:pt x="2383" y="2383"/>
                  </a:lnTo>
                  <a:lnTo>
                    <a:pt x="2980" y="2980"/>
                  </a:lnTo>
                  <a:lnTo>
                    <a:pt x="3577" y="2383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7">
              <a:extLst>
                <a:ext uri="{FF2B5EF4-FFF2-40B4-BE49-F238E27FC236}">
                  <a16:creationId xmlns:a16="http://schemas.microsoft.com/office/drawing/2014/main" id="{17C00E6B-F625-6D6C-8364-9DD9F3C36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1233" y="1463970"/>
              <a:ext cx="2208196" cy="2208277"/>
            </a:xfrm>
            <a:custGeom>
              <a:avLst/>
              <a:gdLst>
                <a:gd name="T0" fmla="+- 0 7774 7177"/>
                <a:gd name="T1" fmla="*/ T0 w 1792"/>
                <a:gd name="T2" fmla="+- 0 1188 1188"/>
                <a:gd name="T3" fmla="*/ 1188 h 1792"/>
                <a:gd name="T4" fmla="+- 0 7177 7177"/>
                <a:gd name="T5" fmla="*/ T4 w 1792"/>
                <a:gd name="T6" fmla="+- 0 1786 1188"/>
                <a:gd name="T7" fmla="*/ 1786 h 1792"/>
                <a:gd name="T8" fmla="+- 0 8372 7177"/>
                <a:gd name="T9" fmla="*/ T8 w 1792"/>
                <a:gd name="T10" fmla="+- 0 2980 1188"/>
                <a:gd name="T11" fmla="*/ 2980 h 1792"/>
                <a:gd name="T12" fmla="+- 0 8969 7177"/>
                <a:gd name="T13" fmla="*/ T12 w 1792"/>
                <a:gd name="T14" fmla="+- 0 2383 1188"/>
                <a:gd name="T15" fmla="*/ 2383 h 1792"/>
                <a:gd name="T16" fmla="+- 0 7774 7177"/>
                <a:gd name="T17" fmla="*/ T16 w 1792"/>
                <a:gd name="T18" fmla="+- 0 1188 1188"/>
                <a:gd name="T19" fmla="*/ 1188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7" y="0"/>
                  </a:moveTo>
                  <a:lnTo>
                    <a:pt x="0" y="598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8">
              <a:extLst>
                <a:ext uri="{FF2B5EF4-FFF2-40B4-BE49-F238E27FC236}">
                  <a16:creationId xmlns:a16="http://schemas.microsoft.com/office/drawing/2014/main" id="{C6197B87-4F65-7981-9463-84830CD3687F}"/>
                </a:ext>
              </a:extLst>
            </p:cNvPr>
            <p:cNvSpPr>
              <a:spLocks/>
            </p:cNvSpPr>
            <p:nvPr/>
          </p:nvSpPr>
          <p:spPr bwMode="auto">
            <a:xfrm>
              <a:off x="8555590" y="1"/>
              <a:ext cx="1457754" cy="729520"/>
            </a:xfrm>
            <a:custGeom>
              <a:avLst/>
              <a:gdLst>
                <a:gd name="T0" fmla="+- 0 10158 8975"/>
                <a:gd name="T1" fmla="*/ T0 w 1183"/>
                <a:gd name="T2" fmla="*/ 0 h 592"/>
                <a:gd name="T3" fmla="+- 0 8975 8975"/>
                <a:gd name="T4" fmla="*/ T3 w 1183"/>
                <a:gd name="T5" fmla="*/ 0 h 592"/>
                <a:gd name="T6" fmla="+- 0 9566 8975"/>
                <a:gd name="T7" fmla="*/ T6 w 1183"/>
                <a:gd name="T8" fmla="*/ 591 h 592"/>
                <a:gd name="T9" fmla="+- 0 10158 8975"/>
                <a:gd name="T10" fmla="*/ T9 w 1183"/>
                <a:gd name="T11" fmla="*/ 0 h 592"/>
              </a:gdLst>
              <a:ahLst/>
              <a:cxnLst>
                <a:cxn ang="0">
                  <a:pos x="T1" y="T2"/>
                </a:cxn>
                <a:cxn ang="0">
                  <a:pos x="T4" y="T5"/>
                </a:cxn>
                <a:cxn ang="0">
                  <a:pos x="T7" y="T8"/>
                </a:cxn>
                <a:cxn ang="0">
                  <a:pos x="T10" y="T11"/>
                </a:cxn>
              </a:cxnLst>
              <a:rect l="0" t="0" r="r" b="b"/>
              <a:pathLst>
                <a:path w="1183" h="592">
                  <a:moveTo>
                    <a:pt x="1183" y="0"/>
                  </a:moveTo>
                  <a:lnTo>
                    <a:pt x="0" y="0"/>
                  </a:lnTo>
                  <a:lnTo>
                    <a:pt x="591" y="591"/>
                  </a:lnTo>
                  <a:lnTo>
                    <a:pt x="118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8" name="Freihandform 9">
              <a:extLst>
                <a:ext uri="{FF2B5EF4-FFF2-40B4-BE49-F238E27FC236}">
                  <a16:creationId xmlns:a16="http://schemas.microsoft.com/office/drawing/2014/main" id="{86AA517C-7217-D864-B7E7-40984A2880DB}"/>
                </a:ext>
              </a:extLst>
            </p:cNvPr>
            <p:cNvSpPr>
              <a:spLocks/>
            </p:cNvSpPr>
            <p:nvPr/>
          </p:nvSpPr>
          <p:spPr bwMode="auto">
            <a:xfrm>
              <a:off x="7076887" y="728289"/>
              <a:ext cx="2208196" cy="2208277"/>
            </a:xfrm>
            <a:custGeom>
              <a:avLst/>
              <a:gdLst>
                <a:gd name="T0" fmla="+- 0 8372 7774"/>
                <a:gd name="T1" fmla="*/ T0 w 1792"/>
                <a:gd name="T2" fmla="+- 0 591 591"/>
                <a:gd name="T3" fmla="*/ 591 h 1792"/>
                <a:gd name="T4" fmla="+- 0 7774 7774"/>
                <a:gd name="T5" fmla="*/ T4 w 1792"/>
                <a:gd name="T6" fmla="+- 0 1188 591"/>
                <a:gd name="T7" fmla="*/ 1188 h 1792"/>
                <a:gd name="T8" fmla="+- 0 8969 7774"/>
                <a:gd name="T9" fmla="*/ T8 w 1792"/>
                <a:gd name="T10" fmla="+- 0 2383 591"/>
                <a:gd name="T11" fmla="*/ 2383 h 1792"/>
                <a:gd name="T12" fmla="+- 0 9566 7774"/>
                <a:gd name="T13" fmla="*/ T12 w 1792"/>
                <a:gd name="T14" fmla="+- 0 1786 591"/>
                <a:gd name="T15" fmla="*/ 1786 h 1792"/>
                <a:gd name="T16" fmla="+- 0 8372 7774"/>
                <a:gd name="T17" fmla="*/ T16 w 1792"/>
                <a:gd name="T18" fmla="+- 0 591 591"/>
                <a:gd name="T19" fmla="*/ 591 h 1792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1792" h="1792">
                  <a:moveTo>
                    <a:pt x="598" y="0"/>
                  </a:moveTo>
                  <a:lnTo>
                    <a:pt x="0" y="597"/>
                  </a:lnTo>
                  <a:lnTo>
                    <a:pt x="1195" y="1792"/>
                  </a:lnTo>
                  <a:lnTo>
                    <a:pt x="1792" y="1195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9" name="Freihandform 10">
              <a:extLst>
                <a:ext uri="{FF2B5EF4-FFF2-40B4-BE49-F238E27FC236}">
                  <a16:creationId xmlns:a16="http://schemas.microsoft.com/office/drawing/2014/main" id="{524013C6-491C-CAA2-5BD6-7C73596711CC}"/>
                </a:ext>
              </a:extLst>
            </p:cNvPr>
            <p:cNvSpPr>
              <a:spLocks/>
            </p:cNvSpPr>
            <p:nvPr/>
          </p:nvSpPr>
          <p:spPr bwMode="auto">
            <a:xfrm>
              <a:off x="9285083" y="728289"/>
              <a:ext cx="2943850" cy="2943958"/>
            </a:xfrm>
            <a:custGeom>
              <a:avLst/>
              <a:gdLst>
                <a:gd name="T0" fmla="+- 0 11955 9566"/>
                <a:gd name="T1" fmla="*/ T0 w 2389"/>
                <a:gd name="T2" fmla="+- 0 1786 591"/>
                <a:gd name="T3" fmla="*/ 1786 h 2389"/>
                <a:gd name="T4" fmla="+- 0 10760 9566"/>
                <a:gd name="T5" fmla="*/ T4 w 2389"/>
                <a:gd name="T6" fmla="+- 0 591 591"/>
                <a:gd name="T7" fmla="*/ 591 h 2389"/>
                <a:gd name="T8" fmla="+- 0 9566 9566"/>
                <a:gd name="T9" fmla="*/ T8 w 2389"/>
                <a:gd name="T10" fmla="+- 0 1786 591"/>
                <a:gd name="T11" fmla="*/ 1786 h 2389"/>
                <a:gd name="T12" fmla="+- 0 10760 9566"/>
                <a:gd name="T13" fmla="*/ T12 w 2389"/>
                <a:gd name="T14" fmla="+- 0 2980 591"/>
                <a:gd name="T15" fmla="*/ 2980 h 2389"/>
                <a:gd name="T16" fmla="+- 0 11955 9566"/>
                <a:gd name="T17" fmla="*/ T16 w 2389"/>
                <a:gd name="T18" fmla="+- 0 1786 591"/>
                <a:gd name="T19" fmla="*/ 1786 h 2389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  <a:cxn ang="0">
                  <a:pos x="T17" y="T19"/>
                </a:cxn>
              </a:cxnLst>
              <a:rect l="0" t="0" r="r" b="b"/>
              <a:pathLst>
                <a:path w="2389" h="2389">
                  <a:moveTo>
                    <a:pt x="2389" y="1195"/>
                  </a:moveTo>
                  <a:lnTo>
                    <a:pt x="1194" y="0"/>
                  </a:lnTo>
                  <a:lnTo>
                    <a:pt x="0" y="1195"/>
                  </a:lnTo>
                  <a:lnTo>
                    <a:pt x="1194" y="2389"/>
                  </a:lnTo>
                  <a:lnTo>
                    <a:pt x="2389" y="1195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18885" y="3499667"/>
            <a:ext cx="4939666" cy="254281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347460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457201"/>
            <a:ext cx="5198269" cy="2305050"/>
          </a:xfrm>
        </p:spPr>
        <p:txBody>
          <a:bodyPr lIns="0" tIns="274320" rtlCol="0">
            <a:normAutofit/>
          </a:bodyPr>
          <a:lstStyle>
            <a:lvl1pPr marL="457200" indent="-457200">
              <a:spcBef>
                <a:spcPts val="1800"/>
              </a:spcBef>
              <a:buFont typeface="+mj-lt"/>
              <a:buAutoNum type="arabicPeriod"/>
              <a:defRPr lang="de-DE" sz="2000"/>
            </a:lvl1pPr>
            <a:lvl2pPr marL="914400" indent="-457200">
              <a:spcBef>
                <a:spcPts val="1800"/>
              </a:spcBef>
              <a:buFont typeface="+mj-lt"/>
              <a:buAutoNum type="alphaLcPeriod"/>
              <a:defRPr lang="de-DE" sz="2000"/>
            </a:lvl2pPr>
            <a:lvl3pPr marL="1371600" indent="-457200">
              <a:spcBef>
                <a:spcPts val="1800"/>
              </a:spcBef>
              <a:buFont typeface="+mj-lt"/>
              <a:buAutoNum type="arabicParenR"/>
              <a:defRPr lang="de-DE" sz="2000"/>
            </a:lvl3pPr>
            <a:lvl4pPr marL="1371600" indent="0">
              <a:spcBef>
                <a:spcPts val="1800"/>
              </a:spcBef>
              <a:buFont typeface="+mj-lt"/>
              <a:buNone/>
              <a:defRPr lang="de-DE" sz="2000"/>
            </a:lvl4pPr>
            <a:lvl5pPr marL="2286000" indent="-457200">
              <a:spcBef>
                <a:spcPts val="1800"/>
              </a:spcBef>
              <a:buFont typeface="+mj-lt"/>
              <a:buAutoNum type="arabicPeriod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endParaRPr lang="de-DE" dirty="0"/>
          </a:p>
        </p:txBody>
      </p:sp>
      <p:sp>
        <p:nvSpPr>
          <p:cNvPr id="2" name="Inhaltsplatzhalter 5">
            <a:extLst>
              <a:ext uri="{FF2B5EF4-FFF2-40B4-BE49-F238E27FC236}">
                <a16:creationId xmlns:a16="http://schemas.microsoft.com/office/drawing/2014/main" id="{3AC171DA-232D-44C1-6B93-40BACB298F4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94360" y="2810595"/>
            <a:ext cx="5198269" cy="3319513"/>
          </a:xfrm>
        </p:spPr>
        <p:txBody>
          <a:bodyPr lIns="0" tIns="4572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283464" indent="-283464">
              <a:spcBef>
                <a:spcPts val="1800"/>
              </a:spcBef>
              <a:defRPr lang="de-DE" sz="2000"/>
            </a:lvl2pPr>
            <a:lvl3pPr marL="548640" indent="-283464">
              <a:spcBef>
                <a:spcPts val="1800"/>
              </a:spcBef>
              <a:defRPr lang="de-DE" sz="2000"/>
            </a:lvl3pPr>
            <a:lvl4pPr marL="822960" indent="-283464">
              <a:spcBef>
                <a:spcPts val="1800"/>
              </a:spcBef>
              <a:defRPr lang="de-DE" sz="2000"/>
            </a:lvl4pPr>
            <a:lvl5pPr marL="1005840"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974690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inhalt und Bil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5310" y="278129"/>
            <a:ext cx="5063490" cy="2354026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3" name="Inhaltsplatzhalter 5">
            <a:extLst>
              <a:ext uri="{FF2B5EF4-FFF2-40B4-BE49-F238E27FC236}">
                <a16:creationId xmlns:a16="http://schemas.microsoft.com/office/drawing/2014/main" id="{1EF4505D-6803-3813-7738-049963427819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4360" y="3279579"/>
            <a:ext cx="5044440" cy="2994415"/>
          </a:xfrm>
        </p:spPr>
        <p:txBody>
          <a:bodyPr lIns="0" tIns="228600" rIns="0" bIns="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indent="-283464">
              <a:spcBef>
                <a:spcPts val="1800"/>
              </a:spcBef>
              <a:defRPr lang="de-DE" sz="2000"/>
            </a:lvl2pPr>
            <a:lvl3pPr indent="-283464">
              <a:spcBef>
                <a:spcPts val="1800"/>
              </a:spcBef>
              <a:defRPr lang="de-DE" sz="2000"/>
            </a:lvl3pPr>
            <a:lvl4pPr indent="-283464">
              <a:spcBef>
                <a:spcPts val="1800"/>
              </a:spcBef>
              <a:defRPr lang="de-DE" sz="2000"/>
            </a:lvl4pPr>
            <a:lvl5pPr indent="-283464"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997459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4658637A-5D36-6127-19BC-C203E23FA4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118225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 dirty="0"/>
              <a:t>Bild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848372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inhalt und Tabel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CF555767-B3D8-BD57-1D42-7F6E1E668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6200000" flipV="1">
            <a:off x="0" y="3900132"/>
            <a:ext cx="2959226" cy="2959226"/>
            <a:chOff x="0" y="12289"/>
            <a:chExt cx="3550" cy="3551"/>
          </a:xfrm>
        </p:grpSpPr>
        <p:sp>
          <p:nvSpPr>
            <p:cNvPr id="9" name="Freihandform 13">
              <a:extLst>
                <a:ext uri="{FF2B5EF4-FFF2-40B4-BE49-F238E27FC236}">
                  <a16:creationId xmlns:a16="http://schemas.microsoft.com/office/drawing/2014/main" id="{BC972B6D-098C-52F6-E990-52623B368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5" name="Freihandform 14">
              <a:extLst>
                <a:ext uri="{FF2B5EF4-FFF2-40B4-BE49-F238E27FC236}">
                  <a16:creationId xmlns:a16="http://schemas.microsoft.com/office/drawing/2014/main" id="{3F0D3EE3-9A8C-531D-1EEE-1AFAB9F3BCA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7" name="Freihandform 15">
              <a:extLst>
                <a:ext uri="{FF2B5EF4-FFF2-40B4-BE49-F238E27FC236}">
                  <a16:creationId xmlns:a16="http://schemas.microsoft.com/office/drawing/2014/main" id="{A2BE192C-1768-890B-EC1B-5ED6E1F825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1409" y="4661717"/>
            <a:ext cx="7936230" cy="1380760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670935" y="631317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3885" y="584005"/>
            <a:ext cx="2825115" cy="3999060"/>
          </a:xfrm>
        </p:spPr>
        <p:txBody>
          <a:bodyPr lIns="0" tIns="274320" rtlCol="0">
            <a:normAutofit/>
          </a:bodyPr>
          <a:lstStyle>
            <a:lvl1pPr marL="0" indent="0">
              <a:spcBef>
                <a:spcPts val="1800"/>
              </a:spcBef>
              <a:buFont typeface="Arial" panose="020B0604020202020204" pitchFamily="34" charset="0"/>
              <a:buNone/>
              <a:defRPr lang="de-DE" sz="2000"/>
            </a:lvl1pPr>
            <a:lvl2pPr marL="457200" indent="0">
              <a:spcBef>
                <a:spcPts val="1800"/>
              </a:spcBef>
              <a:buNone/>
              <a:defRPr lang="de-DE" sz="2000"/>
            </a:lvl2pPr>
            <a:lvl3pPr marL="914400" indent="0">
              <a:spcBef>
                <a:spcPts val="1800"/>
              </a:spcBef>
              <a:buNone/>
              <a:defRPr lang="de-DE" sz="2000"/>
            </a:lvl3pPr>
            <a:lvl4pPr marL="1371600" indent="0">
              <a:spcBef>
                <a:spcPts val="1800"/>
              </a:spcBef>
              <a:buNone/>
              <a:defRPr lang="de-DE" sz="2000"/>
            </a:lvl4pPr>
            <a:lvl5pPr marL="1828800" indent="0">
              <a:spcBef>
                <a:spcPts val="1800"/>
              </a:spcBef>
              <a:buNone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670934" y="584005"/>
            <a:ext cx="7926705" cy="399906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09502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zwei Inhal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C97D5AF2-684A-4A8D-3D82-B57D7AC44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rot="10800000">
            <a:off x="8870040" y="0"/>
            <a:ext cx="3325208" cy="3325208"/>
            <a:chOff x="0" y="12289"/>
            <a:chExt cx="3550" cy="3551"/>
          </a:xfrm>
        </p:grpSpPr>
        <p:sp>
          <p:nvSpPr>
            <p:cNvPr id="12" name="Freihandform 4">
              <a:extLst>
                <a:ext uri="{FF2B5EF4-FFF2-40B4-BE49-F238E27FC236}">
                  <a16:creationId xmlns:a16="http://schemas.microsoft.com/office/drawing/2014/main" id="{8CF5F650-F8F0-F4FE-44DA-1F14ADE428B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3" name="Freihandform 5">
              <a:extLst>
                <a:ext uri="{FF2B5EF4-FFF2-40B4-BE49-F238E27FC236}">
                  <a16:creationId xmlns:a16="http://schemas.microsoft.com/office/drawing/2014/main" id="{18870924-E47D-404F-59B5-BD1C58F7B04C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4" name="Freihandform 7">
              <a:extLst>
                <a:ext uri="{FF2B5EF4-FFF2-40B4-BE49-F238E27FC236}">
                  <a16:creationId xmlns:a16="http://schemas.microsoft.com/office/drawing/2014/main" id="{80806A65-E4FC-2F52-65B3-CC181E620C2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198408"/>
            <a:ext cx="10972800" cy="1574317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BCAAA28-C292-C527-AD35-90836B8BB97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5523" y="2676525"/>
            <a:ext cx="5746750" cy="3597470"/>
          </a:xfrm>
        </p:spPr>
        <p:txBody>
          <a:bodyPr lIns="0" rtlCol="0">
            <a:normAutofit/>
          </a:bodyPr>
          <a:lstStyle>
            <a:lvl1pPr marL="0" indent="0">
              <a:spcBef>
                <a:spcPts val="1800"/>
              </a:spcBef>
              <a:buNone/>
              <a:defRPr lang="de-DE" sz="2000"/>
            </a:lvl1pPr>
            <a:lvl2pPr>
              <a:spcBef>
                <a:spcPts val="6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Inhaltsplatzhalter 5">
            <a:extLst>
              <a:ext uri="{FF2B5EF4-FFF2-40B4-BE49-F238E27FC236}">
                <a16:creationId xmlns:a16="http://schemas.microsoft.com/office/drawing/2014/main" id="{8007FA9C-C4D5-89EC-C457-5F329A338E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20000" y="2676525"/>
            <a:ext cx="3947160" cy="3597470"/>
          </a:xfrm>
        </p:spPr>
        <p:txBody>
          <a:bodyPr lIns="0" rtlCol="0">
            <a:normAutofit/>
          </a:bodyPr>
          <a:lstStyle>
            <a:lvl1pPr marL="342900" indent="-342900">
              <a:spcBef>
                <a:spcPts val="1800"/>
              </a:spcBef>
              <a:buFont typeface="Arial" panose="020B0604020202020204" pitchFamily="34" charset="0"/>
              <a:buChar char="•"/>
              <a:defRPr lang="de-DE" sz="2000"/>
            </a:lvl1pPr>
            <a:lvl2pPr>
              <a:spcBef>
                <a:spcPts val="1800"/>
              </a:spcBef>
              <a:defRPr lang="de-DE" sz="2000"/>
            </a:lvl2pPr>
            <a:lvl3pPr>
              <a:spcBef>
                <a:spcPts val="1800"/>
              </a:spcBef>
              <a:defRPr lang="de-DE" sz="2000"/>
            </a:lvl3pPr>
            <a:lvl4pPr>
              <a:spcBef>
                <a:spcPts val="1800"/>
              </a:spcBef>
              <a:defRPr lang="de-DE" sz="2000"/>
            </a:lvl4pPr>
            <a:lvl5pPr>
              <a:spcBef>
                <a:spcPts val="1800"/>
              </a:spcBef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47280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abell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">
            <a:extLst>
              <a:ext uri="{FF2B5EF4-FFF2-40B4-BE49-F238E27FC236}">
                <a16:creationId xmlns:a16="http://schemas.microsoft.com/office/drawing/2014/main" id="{109B023A-F28F-184D-BA48-3F1C0502A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" y="202400"/>
            <a:ext cx="10972800" cy="1570325"/>
          </a:xfrm>
          <a:prstGeom prst="rect">
            <a:avLst/>
          </a:prstGeom>
        </p:spPr>
        <p:txBody>
          <a:bodyPr lIns="0" tIns="0" rIns="0" bIns="0" rtlCol="0" anchor="b" anchorCtr="0">
            <a:noAutofit/>
          </a:bodyPr>
          <a:lstStyle>
            <a:lvl1pPr>
              <a:defRPr lang="de-DE" sz="4400" b="1" i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sp>
        <p:nvSpPr>
          <p:cNvPr id="9" name="Tabellenplatzhalter 2">
            <a:extLst>
              <a:ext uri="{FF2B5EF4-FFF2-40B4-BE49-F238E27FC236}">
                <a16:creationId xmlns:a16="http://schemas.microsoft.com/office/drawing/2014/main" id="{1506B022-475A-6647-98FF-D5C319A0C7C4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94360" y="2628629"/>
            <a:ext cx="10972800" cy="3636740"/>
          </a:xfrm>
        </p:spPr>
        <p:txBody>
          <a:bodyPr rtlCol="0">
            <a:noAutofit/>
          </a:bodyPr>
          <a:lstStyle>
            <a:lvl1pPr>
              <a:defRPr lang="de-DE"/>
            </a:lvl1pPr>
          </a:lstStyle>
          <a:p>
            <a:pPr rtl="0"/>
            <a:r>
              <a:rPr lang="de-DE" dirty="0"/>
              <a:t>Tabelle durch Klicken auf Symbol hinzufügen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5D79B4B-A9BD-581F-536E-DE7CF728F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C5EA2E64-5690-A56B-7051-476EC7BADA55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>
              <a:latin typeface="+mn-lt"/>
            </a:endParaRP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E66081BA-9135-73B1-DCE5-77FD12431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2148840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459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00">
          <p15:clr>
            <a:srgbClr val="FBAE40"/>
          </p15:clr>
        </p15:guide>
        <p15:guide id="2" pos="7080">
          <p15:clr>
            <a:srgbClr val="FBAE40"/>
          </p15:clr>
        </p15:guide>
        <p15:guide id="3" pos="2880">
          <p15:clr>
            <a:srgbClr val="FBAE40"/>
          </p15:clr>
        </p15:guide>
        <p15:guide id="4" pos="5160">
          <p15:clr>
            <a:srgbClr val="FBAE40"/>
          </p15:clr>
        </p15:guide>
        <p15:guide id="5" pos="2520">
          <p15:clr>
            <a:srgbClr val="FBAE40"/>
          </p15:clr>
        </p15:guide>
        <p15:guide id="6" pos="4800">
          <p15:clr>
            <a:srgbClr val="FBAE40"/>
          </p15:clr>
        </p15:guide>
        <p15:guide id="7" orient="horz" pos="1224">
          <p15:clr>
            <a:srgbClr val="FBAE40"/>
          </p15:clr>
        </p15:guide>
        <p15:guide id="8" orient="horz" pos="1392">
          <p15:clr>
            <a:srgbClr val="FBAE40"/>
          </p15:clr>
        </p15:guide>
        <p15:guide id="10" orient="horz" pos="552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B6987D-0137-DE42-B76B-FF621E808D9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360" y="411479"/>
            <a:ext cx="5486400" cy="3291840"/>
          </a:xfrm>
          <a:prstGeom prst="rect">
            <a:avLst/>
          </a:prstGeom>
        </p:spPr>
        <p:txBody>
          <a:bodyPr lIns="0" tIns="0" rIns="0" bIns="0" rtlCol="0" anchor="b">
            <a:noAutofit/>
          </a:bodyPr>
          <a:lstStyle>
            <a:lvl1pPr algn="l">
              <a:lnSpc>
                <a:spcPct val="80000"/>
              </a:lnSpc>
              <a:defRPr lang="de-DE" sz="6000" b="1" i="0" spc="100" baseline="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de-DE"/>
              <a:t>Titel durch Klicken hinzufügen 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C26C18C3-ED25-DD4B-BA72-24932D54D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 bwMode="auto">
          <a:xfrm flipH="1" flipV="1">
            <a:off x="6092752" y="0"/>
            <a:ext cx="6099248" cy="6099248"/>
            <a:chOff x="0" y="12289"/>
            <a:chExt cx="3550" cy="3551"/>
          </a:xfrm>
        </p:grpSpPr>
        <p:sp>
          <p:nvSpPr>
            <p:cNvPr id="10" name="Freihandform 9">
              <a:extLst>
                <a:ext uri="{FF2B5EF4-FFF2-40B4-BE49-F238E27FC236}">
                  <a16:creationId xmlns:a16="http://schemas.microsoft.com/office/drawing/2014/main" id="{C07CC263-2515-F147-8CC5-F8E9FF9FA8E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2289"/>
              <a:ext cx="1789" cy="2386"/>
            </a:xfrm>
            <a:custGeom>
              <a:avLst/>
              <a:gdLst>
                <a:gd name="T0" fmla="*/ 0 w 1789"/>
                <a:gd name="T1" fmla="+- 0 12290 12290"/>
                <a:gd name="T2" fmla="*/ 12290 h 2386"/>
                <a:gd name="T3" fmla="*/ 0 w 1789"/>
                <a:gd name="T4" fmla="+- 0 13484 12290"/>
                <a:gd name="T5" fmla="*/ 13484 h 2386"/>
                <a:gd name="T6" fmla="*/ 1192 w 1789"/>
                <a:gd name="T7" fmla="+- 0 14676 12290"/>
                <a:gd name="T8" fmla="*/ 14676 h 2386"/>
                <a:gd name="T9" fmla="*/ 1789 w 1789"/>
                <a:gd name="T10" fmla="+- 0 14079 12290"/>
                <a:gd name="T11" fmla="*/ 14079 h 2386"/>
                <a:gd name="T12" fmla="*/ 0 w 1789"/>
                <a:gd name="T13" fmla="+- 0 12290 12290"/>
                <a:gd name="T14" fmla="*/ 12290 h 2386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  <a:cxn ang="0">
                  <a:pos x="T12" y="T14"/>
                </a:cxn>
              </a:cxnLst>
              <a:rect l="0" t="0" r="r" b="b"/>
              <a:pathLst>
                <a:path w="1789" h="2386">
                  <a:moveTo>
                    <a:pt x="0" y="0"/>
                  </a:moveTo>
                  <a:lnTo>
                    <a:pt x="0" y="1194"/>
                  </a:lnTo>
                  <a:lnTo>
                    <a:pt x="1192" y="2386"/>
                  </a:lnTo>
                  <a:lnTo>
                    <a:pt x="1789" y="17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1" name="Freihandform 10">
              <a:extLst>
                <a:ext uri="{FF2B5EF4-FFF2-40B4-BE49-F238E27FC236}">
                  <a16:creationId xmlns:a16="http://schemas.microsoft.com/office/drawing/2014/main" id="{43B40037-7481-524B-8685-404D965690F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14678"/>
              <a:ext cx="1162" cy="1162"/>
            </a:xfrm>
            <a:custGeom>
              <a:avLst/>
              <a:gdLst>
                <a:gd name="T0" fmla="*/ 0 w 1162"/>
                <a:gd name="T1" fmla="+- 0 14679 14679"/>
                <a:gd name="T2" fmla="*/ 14679 h 1162"/>
                <a:gd name="T3" fmla="*/ 0 w 1162"/>
                <a:gd name="T4" fmla="+- 0 15840 14679"/>
                <a:gd name="T5" fmla="*/ 15840 h 1162"/>
                <a:gd name="T6" fmla="*/ 1161 w 1162"/>
                <a:gd name="T7" fmla="+- 0 15840 14679"/>
                <a:gd name="T8" fmla="*/ 15840 h 1162"/>
                <a:gd name="T9" fmla="*/ 0 w 1162"/>
                <a:gd name="T10" fmla="+- 0 14679 14679"/>
                <a:gd name="T11" fmla="*/ 14679 h 1162"/>
              </a:gdLst>
              <a:ahLst/>
              <a:cxnLst>
                <a:cxn ang="0">
                  <a:pos x="T0" y="T2"/>
                </a:cxn>
                <a:cxn ang="0">
                  <a:pos x="T3" y="T5"/>
                </a:cxn>
                <a:cxn ang="0">
                  <a:pos x="T6" y="T8"/>
                </a:cxn>
                <a:cxn ang="0">
                  <a:pos x="T9" y="T11"/>
                </a:cxn>
              </a:cxnLst>
              <a:rect l="0" t="0" r="r" b="b"/>
              <a:pathLst>
                <a:path w="1162" h="1162">
                  <a:moveTo>
                    <a:pt x="0" y="0"/>
                  </a:moveTo>
                  <a:lnTo>
                    <a:pt x="0" y="1161"/>
                  </a:lnTo>
                  <a:lnTo>
                    <a:pt x="1161" y="1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  <p:sp>
          <p:nvSpPr>
            <p:cNvPr id="12" name="Freihandform 11">
              <a:extLst>
                <a:ext uri="{FF2B5EF4-FFF2-40B4-BE49-F238E27FC236}">
                  <a16:creationId xmlns:a16="http://schemas.microsoft.com/office/drawing/2014/main" id="{7B759713-8408-EE47-9394-3DA6F5E4B6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221" y="14675"/>
              <a:ext cx="2329" cy="1165"/>
            </a:xfrm>
            <a:custGeom>
              <a:avLst/>
              <a:gdLst>
                <a:gd name="T0" fmla="+- 0 3550 1221"/>
                <a:gd name="T1" fmla="*/ T0 w 2329"/>
                <a:gd name="T2" fmla="+- 0 15840 14676"/>
                <a:gd name="T3" fmla="*/ 15840 h 1165"/>
                <a:gd name="T4" fmla="+- 0 2386 1221"/>
                <a:gd name="T5" fmla="*/ T4 w 2329"/>
                <a:gd name="T6" fmla="+- 0 14676 14676"/>
                <a:gd name="T7" fmla="*/ 14676 h 1165"/>
                <a:gd name="T8" fmla="+- 0 1221 1221"/>
                <a:gd name="T9" fmla="*/ T8 w 2329"/>
                <a:gd name="T10" fmla="+- 0 15840 14676"/>
                <a:gd name="T11" fmla="*/ 15840 h 1165"/>
                <a:gd name="T12" fmla="+- 0 3550 1221"/>
                <a:gd name="T13" fmla="*/ T12 w 2329"/>
                <a:gd name="T14" fmla="+- 0 15840 14676"/>
                <a:gd name="T15" fmla="*/ 15840 h 1165"/>
              </a:gdLst>
              <a:ahLst/>
              <a:cxnLst>
                <a:cxn ang="0">
                  <a:pos x="T1" y="T3"/>
                </a:cxn>
                <a:cxn ang="0">
                  <a:pos x="T5" y="T7"/>
                </a:cxn>
                <a:cxn ang="0">
                  <a:pos x="T9" y="T11"/>
                </a:cxn>
                <a:cxn ang="0">
                  <a:pos x="T13" y="T15"/>
                </a:cxn>
              </a:cxnLst>
              <a:rect l="0" t="0" r="r" b="b"/>
              <a:pathLst>
                <a:path w="2329" h="1165">
                  <a:moveTo>
                    <a:pt x="2329" y="1164"/>
                  </a:moveTo>
                  <a:lnTo>
                    <a:pt x="1165" y="0"/>
                  </a:lnTo>
                  <a:lnTo>
                    <a:pt x="0" y="1164"/>
                  </a:lnTo>
                  <a:lnTo>
                    <a:pt x="2329" y="1164"/>
                  </a:lnTo>
                </a:path>
              </a:pathLst>
            </a:custGeom>
            <a:solidFill>
              <a:schemeClr val="accent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rot="0" vert="horz" wrap="square" lIns="91440" tIns="45720" rIns="91440" bIns="45720" rtlCol="0" anchor="t" anchorCtr="0" upright="1">
              <a:noAutofit/>
            </a:bodyPr>
            <a:lstStyle>
              <a:defPPr>
                <a:defRPr lang="de-DE"/>
              </a:defPPr>
            </a:lstStyle>
            <a:p>
              <a:pPr rtl="0"/>
              <a:endParaRPr lang="de-DE" dirty="0"/>
            </a:p>
          </p:txBody>
        </p:sp>
      </p:grpSp>
      <p:sp>
        <p:nvSpPr>
          <p:cNvPr id="18" name="Textplatzhalter 29">
            <a:extLst>
              <a:ext uri="{FF2B5EF4-FFF2-40B4-BE49-F238E27FC236}">
                <a16:creationId xmlns:a16="http://schemas.microsoft.com/office/drawing/2014/main" id="{276A9CD7-E675-3048-86D3-3546A2F6B45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94360" y="4549552"/>
            <a:ext cx="5486400" cy="1645920"/>
          </a:xfrm>
        </p:spPr>
        <p:txBody>
          <a:bodyPr lIns="0" tIns="0" rIns="0" bIns="0" rtlCol="0">
            <a:noAutofit/>
          </a:bodyPr>
          <a:lstStyle>
            <a:lvl1pPr marL="0" indent="0">
              <a:buNone/>
              <a:defRPr lang="de-DE" sz="2400" b="1" i="0">
                <a:solidFill>
                  <a:schemeClr val="tx2">
                    <a:lumMod val="75000"/>
                  </a:schemeClr>
                </a:solidFill>
                <a:latin typeface="+mn-lt"/>
              </a:defRPr>
            </a:lvl1pPr>
            <a:lvl2pPr>
              <a:defRPr lang="de-DE" sz="4000"/>
            </a:lvl2pPr>
            <a:lvl3pPr>
              <a:defRPr lang="de-DE" sz="4000"/>
            </a:lvl3pPr>
            <a:lvl4pPr>
              <a:defRPr lang="de-DE" sz="4000"/>
            </a:lvl4pPr>
            <a:lvl5pPr>
              <a:defRPr lang="de-DE" sz="4000"/>
            </a:lvl5pPr>
          </a:lstStyle>
          <a:p>
            <a:pPr lvl="0" rtl="0"/>
            <a:r>
              <a:rPr lang="de-DE"/>
              <a:t>Klicken Sie, um Text hinzuzufügen.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58B149C6-5AAC-B8E5-5411-EA38821F67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4360" y="3950208"/>
            <a:ext cx="2133600" cy="3992"/>
          </a:xfrm>
          <a:prstGeom prst="line">
            <a:avLst/>
          </a:prstGeom>
          <a:ln w="101600">
            <a:solidFill>
              <a:schemeClr val="tx2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483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ED84C6-50E6-6C43-8031-AFF6268E0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31" y="1774351"/>
            <a:ext cx="103822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2" name="Titelplatzhalter 11">
            <a:extLst>
              <a:ext uri="{FF2B5EF4-FFF2-40B4-BE49-F238E27FC236}">
                <a16:creationId xmlns:a16="http://schemas.microsoft.com/office/drawing/2014/main" id="{D41FC0AE-253D-D242-9C88-017078F8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539" y="100205"/>
            <a:ext cx="104013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dirty="0"/>
              <a:t>Titelmasterformat durch Klicken bearbeiten</a:t>
            </a:r>
          </a:p>
        </p:txBody>
      </p:sp>
      <p:sp>
        <p:nvSpPr>
          <p:cNvPr id="30" name="Datumsplatzhalter 3">
            <a:extLst>
              <a:ext uri="{FF2B5EF4-FFF2-40B4-BE49-F238E27FC236}">
                <a16:creationId xmlns:a16="http://schemas.microsoft.com/office/drawing/2014/main" id="{EF47083A-6D76-4B4D-87CA-E08E212F7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40190" y="6277290"/>
            <a:ext cx="131318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de-DE" sz="1100" b="0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endParaRPr lang="de-DE" dirty="0">
              <a:latin typeface="+mn-lt"/>
            </a:endParaRPr>
          </a:p>
        </p:txBody>
      </p:sp>
      <p:sp>
        <p:nvSpPr>
          <p:cNvPr id="32" name="Foliennummernplatzhalter 5">
            <a:extLst>
              <a:ext uri="{FF2B5EF4-FFF2-40B4-BE49-F238E27FC236}">
                <a16:creationId xmlns:a16="http://schemas.microsoft.com/office/drawing/2014/main" id="{C8ADA0DF-3751-9A48-8A21-59F01C78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3370" y="6280732"/>
            <a:ext cx="523240" cy="24765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lang="de-DE" sz="1100" b="1" i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8359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90" r:id="rId29"/>
    <p:sldLayoutId id="2147483691" r:id="rId30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de-DE" sz="3600" b="1" i="0" kern="1200" spc="100" baseline="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eaLnBrk="1" hangingPunct="1">
        <a:defRPr lang="de-DE">
          <a:solidFill>
            <a:schemeClr val="tx2"/>
          </a:solidFill>
        </a:defRPr>
      </a:lvl2pPr>
      <a:lvl3pPr eaLnBrk="1" hangingPunct="1">
        <a:defRPr lang="de-DE">
          <a:solidFill>
            <a:schemeClr val="tx2"/>
          </a:solidFill>
        </a:defRPr>
      </a:lvl3pPr>
      <a:lvl4pPr eaLnBrk="1" hangingPunct="1">
        <a:defRPr lang="de-DE">
          <a:solidFill>
            <a:schemeClr val="tx2"/>
          </a:solidFill>
        </a:defRPr>
      </a:lvl4pPr>
      <a:lvl5pPr eaLnBrk="1" hangingPunct="1">
        <a:defRPr lang="de-DE">
          <a:solidFill>
            <a:schemeClr val="tx2"/>
          </a:solidFill>
        </a:defRPr>
      </a:lvl5pPr>
      <a:lvl6pPr eaLnBrk="1" hangingPunct="1">
        <a:defRPr lang="de-DE">
          <a:solidFill>
            <a:schemeClr val="tx2"/>
          </a:solidFill>
        </a:defRPr>
      </a:lvl6pPr>
      <a:lvl7pPr eaLnBrk="1" hangingPunct="1">
        <a:defRPr lang="de-DE">
          <a:solidFill>
            <a:schemeClr val="tx2"/>
          </a:solidFill>
        </a:defRPr>
      </a:lvl7pPr>
      <a:lvl8pPr eaLnBrk="1" hangingPunct="1">
        <a:defRPr lang="de-DE">
          <a:solidFill>
            <a:schemeClr val="tx2"/>
          </a:solidFill>
        </a:defRPr>
      </a:lvl8pPr>
      <a:lvl9pPr eaLnBrk="1" hangingPunct="1">
        <a:defRPr lang="de-DE">
          <a:solidFill>
            <a:schemeClr val="tx2"/>
          </a:solidFill>
        </a:defRPr>
      </a:lvl9pPr>
    </p:titleStyle>
    <p:bodyStyle>
      <a:lvl1pPr marL="228600" indent="-283464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83464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40">
          <p15:clr>
            <a:srgbClr val="547EBF"/>
          </p15:clr>
        </p15:guide>
        <p15:guide id="4" orient="horz" pos="240">
          <p15:clr>
            <a:srgbClr val="547EBF"/>
          </p15:clr>
        </p15:guide>
        <p15:guide id="5" pos="7440">
          <p15:clr>
            <a:srgbClr val="547EBF"/>
          </p15:clr>
        </p15:guide>
        <p15:guide id="6" orient="horz" pos="4080">
          <p15:clr>
            <a:srgbClr val="547EBF"/>
          </p15:clr>
        </p15:guide>
        <p15:guide id="7" pos="600">
          <p15:clr>
            <a:srgbClr val="547EBF"/>
          </p15:clr>
        </p15:guide>
        <p15:guide id="8" pos="3720">
          <p15:clr>
            <a:srgbClr val="547EBF"/>
          </p15:clr>
        </p15:guide>
        <p15:guide id="9" pos="2112">
          <p15:clr>
            <a:srgbClr val="547EBF"/>
          </p15:clr>
        </p15:guide>
        <p15:guide id="10" pos="1848">
          <p15:clr>
            <a:srgbClr val="547EBF"/>
          </p15:clr>
        </p15:guide>
        <p15:guide id="11" pos="5568">
          <p15:clr>
            <a:srgbClr val="547EBF"/>
          </p15:clr>
        </p15:guide>
        <p15:guide id="12" pos="5832">
          <p15:clr>
            <a:srgbClr val="547EBF"/>
          </p15:clr>
        </p15:guide>
        <p15:guide id="13" pos="4968">
          <p15:clr>
            <a:srgbClr val="9FCC3B"/>
          </p15:clr>
        </p15:guide>
        <p15:guide id="14" pos="5208">
          <p15:clr>
            <a:srgbClr val="9FCC3B"/>
          </p15:clr>
        </p15:guide>
        <p15:guide id="15" pos="2712">
          <p15:clr>
            <a:srgbClr val="9FCC3B"/>
          </p15:clr>
        </p15:guide>
        <p15:guide id="16" pos="2472">
          <p15:clr>
            <a:srgbClr val="9FCC3B"/>
          </p15:clr>
        </p15:guide>
        <p15:guide id="17" pos="39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B1D9D6-2977-ABCD-FDF8-51AFA5064E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9954" y="1380565"/>
            <a:ext cx="8380430" cy="3146612"/>
          </a:xfrm>
        </p:spPr>
        <p:txBody>
          <a:bodyPr rtlCol="0"/>
          <a:lstStyle>
            <a:defPPr>
              <a:defRPr lang="de-DE"/>
            </a:defPPr>
          </a:lstStyle>
          <a:p>
            <a:pPr algn="ctr"/>
            <a: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Diabetes Risikofaktoren</a:t>
            </a: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Explorative Datenanalyse</a:t>
            </a: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b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</a:br>
            <a:r>
              <a:rPr lang="de-DE" sz="4400" dirty="0">
                <a:solidFill>
                  <a:schemeClr val="bg1">
                    <a:lumMod val="85000"/>
                    <a:lumOff val="15000"/>
                  </a:schemeClr>
                </a:solidFill>
              </a:rPr>
              <a:t>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012714C-25D7-5B8F-6A5C-9D4CA403C368}"/>
              </a:ext>
            </a:extLst>
          </p:cNvPr>
          <p:cNvSpPr txBox="1"/>
          <p:nvPr/>
        </p:nvSpPr>
        <p:spPr>
          <a:xfrm>
            <a:off x="9565342" y="6201106"/>
            <a:ext cx="24115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>
                <a:solidFill>
                  <a:schemeClr val="bg1"/>
                </a:solidFill>
              </a:rPr>
              <a:t>Kerstin Klüh    05.06.2026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0351280-E4EA-5910-C09D-DB6E1385E6D0}"/>
              </a:ext>
            </a:extLst>
          </p:cNvPr>
          <p:cNvCxnSpPr>
            <a:cxnSpLocks/>
          </p:cNvCxnSpPr>
          <p:nvPr/>
        </p:nvCxnSpPr>
        <p:spPr>
          <a:xfrm>
            <a:off x="6279822" y="3954729"/>
            <a:ext cx="2185447" cy="0"/>
          </a:xfrm>
          <a:prstGeom prst="line">
            <a:avLst/>
          </a:prstGeom>
          <a:ln w="1143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0304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15">
            <a:extLst>
              <a:ext uri="{FF2B5EF4-FFF2-40B4-BE49-F238E27FC236}">
                <a16:creationId xmlns:a16="http://schemas.microsoft.com/office/drawing/2014/main" id="{16195E3A-1159-1BD5-A09C-849DFA8F1255}"/>
              </a:ext>
            </a:extLst>
          </p:cNvPr>
          <p:cNvSpPr/>
          <p:nvPr/>
        </p:nvSpPr>
        <p:spPr>
          <a:xfrm>
            <a:off x="0" y="6562165"/>
            <a:ext cx="12191999" cy="29583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61F587D5-3078-1A87-7947-2A235FD9E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805" y="1857080"/>
            <a:ext cx="3152775" cy="44306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05346ED-721D-85EE-2F1B-A31D0912D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067" y="206411"/>
            <a:ext cx="2193664" cy="1032197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>
                <a:latin typeface="Arial" panose="020B0604020202020204" pitchFamily="34" charset="0"/>
              </a:rPr>
              <a:t>Agenda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32D0C88-D801-AD2D-6A81-A13229FEE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95441" y="6610349"/>
            <a:ext cx="523240" cy="247651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4A09A9-5501-47C1-A89A-A340965A2BE2}" type="slidenum">
              <a:rPr kumimoji="0" lang="de-DE" sz="1100" b="1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Franklin Gothic Book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DE" sz="11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Franklin Gothic Book"/>
              <a:ea typeface="+mn-ea"/>
              <a:cs typeface="+mn-cs"/>
            </a:endParaRPr>
          </a:p>
        </p:txBody>
      </p:sp>
      <p:sp>
        <p:nvSpPr>
          <p:cNvPr id="13" name="Inhaltsplatzhalter 5">
            <a:extLst>
              <a:ext uri="{FF2B5EF4-FFF2-40B4-BE49-F238E27FC236}">
                <a16:creationId xmlns:a16="http://schemas.microsoft.com/office/drawing/2014/main" id="{668C2733-21D1-F3CB-07C9-3BB23DFFF83B}"/>
              </a:ext>
            </a:extLst>
          </p:cNvPr>
          <p:cNvSpPr txBox="1">
            <a:spLocks/>
          </p:cNvSpPr>
          <p:nvPr/>
        </p:nvSpPr>
        <p:spPr>
          <a:xfrm>
            <a:off x="1112786" y="1846730"/>
            <a:ext cx="8309120" cy="4509246"/>
          </a:xfrm>
          <a:prstGeom prst="rect">
            <a:avLst/>
          </a:prstGeom>
        </p:spPr>
        <p:txBody>
          <a:bodyPr vert="horz" lIns="0" tIns="45720" rIns="0" bIns="0" rtlCol="0">
            <a:normAutofit fontScale="25000" lnSpcReduction="20000"/>
          </a:bodyPr>
          <a:lstStyle>
            <a:defPPr>
              <a:defRPr lang="de-DE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None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59436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82296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005840" indent="-283464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7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Datenbasis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Übersicht der 9 ausgewählten Risikofaktoren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Einfluss von </a:t>
            </a:r>
          </a:p>
          <a:p>
            <a:pPr marL="539496" lvl="3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3.1 Geschlecht, </a:t>
            </a:r>
          </a:p>
          <a:p>
            <a:pPr marL="539496" lvl="3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3.2 Alter </a:t>
            </a:r>
          </a:p>
          <a:p>
            <a:pPr marL="539496" lvl="3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3.3 BMI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Medizinischen Faktoren: Bluthochdruck und Cholesterin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Sozioökonomische Faktoren: Bildung und Einkommen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Subjektiver Gesundheitszustand: Körper und Psyche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Gesamtmodell: Logistische Regression</a:t>
            </a:r>
          </a:p>
          <a:p>
            <a:pPr marL="457200" indent="-45720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Font typeface="+mj-lt"/>
              <a:buAutoNum type="arabicPeriod"/>
            </a:pPr>
            <a:r>
              <a:rPr lang="de-DE" sz="8000" dirty="0">
                <a:latin typeface="Arial" panose="020B0604020202020204" pitchFamily="34" charset="0"/>
                <a:cs typeface="Arial" panose="020B0604020202020204" pitchFamily="34" charset="0"/>
              </a:rPr>
              <a:t>Zusammenfassung</a:t>
            </a:r>
          </a:p>
          <a:p>
            <a:pPr marL="0" lvl="1" indent="0">
              <a:spcAft>
                <a:spcPts val="400"/>
              </a:spcAft>
              <a:buNone/>
            </a:pPr>
            <a:endParaRPr lang="de-DE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771510FF-DF75-AFF1-8C28-F9573E319397}"/>
              </a:ext>
            </a:extLst>
          </p:cNvPr>
          <p:cNvCxnSpPr>
            <a:cxnSpLocks/>
          </p:cNvCxnSpPr>
          <p:nvPr/>
        </p:nvCxnSpPr>
        <p:spPr>
          <a:xfrm>
            <a:off x="1170495" y="1362358"/>
            <a:ext cx="2119460" cy="0"/>
          </a:xfrm>
          <a:prstGeom prst="line">
            <a:avLst/>
          </a:prstGeom>
          <a:ln w="920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8484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156C4EB-F864-7701-F582-8DC459723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19" y="445808"/>
            <a:ext cx="10401300" cy="612649"/>
          </a:xfrm>
        </p:spPr>
        <p:txBody>
          <a:bodyPr>
            <a:normAutofit/>
          </a:bodyPr>
          <a:lstStyle/>
          <a:p>
            <a:r>
              <a:rPr lang="de-DE" sz="3600" dirty="0"/>
              <a:t>1. Datenbasis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5547FB-E84D-648F-D534-AAE24B18A03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777401" y="6657474"/>
            <a:ext cx="523240" cy="109992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3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68748F14-A2CC-13DF-558B-6653241ED75E}"/>
              </a:ext>
            </a:extLst>
          </p:cNvPr>
          <p:cNvSpPr txBox="1">
            <a:spLocks/>
          </p:cNvSpPr>
          <p:nvPr/>
        </p:nvSpPr>
        <p:spPr>
          <a:xfrm>
            <a:off x="583319" y="1734208"/>
            <a:ext cx="11209287" cy="4761186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0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Datenquelle: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CDC-BRFSS-Datensatz aus einer Großbefragung im Jahr 2015 zu Diabetes Gesundheitsindikatoren in den USA. Aufbereitet und bereitgestellt von Alex Teboul.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Stichprobengröße: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253.680 Beobachtungen, 22 Spalten, vollständig besetzt, keine fehlenden Werte</a:t>
            </a:r>
          </a:p>
          <a:p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 Risikofaktoren: </a:t>
            </a:r>
          </a:p>
          <a:p>
            <a:pPr marL="457200" lvl="1" indent="0"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(Diabetes_Status), Bluthochdruck, Cholesterin_hoch, Cholesterin_Check, BMI, Raucher_Status, Schlaganfall, Herzerkrankung_Infarkt, Sportliche_Aktivitaet, Obst_Konsum, Gemuese_Konsum, Hoher_Alkoholkonsum, Krankenversicherung, Kein_Arzt_wegen_Kosten, Allgemeine_Gesundheit, Psychische_Gesundheit, Koerperliche_Gesundheit, Einschraenkung_Gehen, Geschlecht, Altersgruppe, Bildungsstand, Einkommensstufe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Zielvariable: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Diabetes-Status (binär: Gesund / Diabetes)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Datenstruktur: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Überwiegend standardisierte Ja/Nein-Antworten</a:t>
            </a:r>
          </a:p>
          <a:p>
            <a:pPr marL="342900" indent="-342900">
              <a:lnSpc>
                <a:spcPct val="150000"/>
              </a:lnSpc>
            </a:pPr>
            <a:r>
              <a:rPr lang="de-DE" sz="1800" b="1" dirty="0">
                <a:latin typeface="Arial" panose="020B0604020202020204" pitchFamily="34" charset="0"/>
                <a:cs typeface="Arial" panose="020B0604020202020204" pitchFamily="34" charset="0"/>
              </a:rPr>
              <a:t>Methodik: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 Deskriptive Analyse gefolgt von einer logistischen Regression</a:t>
            </a:r>
          </a:p>
        </p:txBody>
      </p:sp>
    </p:spTree>
    <p:extLst>
      <p:ext uri="{BB962C8B-B14F-4D97-AF65-F5344CB8AC3E}">
        <p14:creationId xmlns:p14="http://schemas.microsoft.com/office/powerpoint/2010/main" val="1856051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6DE46-7D25-EA62-1003-832530349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6B563837-0B93-C3F1-6AD8-B52EBB8FF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0518" y="2160350"/>
            <a:ext cx="3382573" cy="2061981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123CB6AE-F41A-B820-56B6-F7AF93E69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538" y="100205"/>
            <a:ext cx="10997061" cy="1325563"/>
          </a:xfrm>
        </p:spPr>
        <p:txBody>
          <a:bodyPr>
            <a:normAutofit fontScale="90000"/>
          </a:bodyPr>
          <a:lstStyle/>
          <a:p>
            <a:r>
              <a:rPr lang="de-DE" sz="3600" dirty="0"/>
              <a:t>2. Übersicht der 9 ausgewählten Risikofaktoren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E6E62EC-C9B8-3A77-375E-0ACEBE3772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4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C294A-CF91-AFDC-BF18-933603C89AEB}"/>
              </a:ext>
            </a:extLst>
          </p:cNvPr>
          <p:cNvSpPr txBox="1">
            <a:spLocks/>
          </p:cNvSpPr>
          <p:nvPr/>
        </p:nvSpPr>
        <p:spPr>
          <a:xfrm>
            <a:off x="7995628" y="2242017"/>
            <a:ext cx="3648761" cy="2806638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Baseline der Stichprobe: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Durchschnittliche Diabetes-Rate liegt bei 13,9 %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Massiver unbereinigter 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Alle neun Risikogruppen liegen deutlich über dem Durchschnitt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Die Spitzenreiter: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Eingeschränkte allgemeine Gesundheit (32,9 %) und körperliche Beschwerden (28,6 %) weisen die höchsten Raten auf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Auffälligkeit: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Niedrige Bildung (27,0 %) und geringes Einkommen (24,3 %) zeigen hier sehr hohe Diabetes-Anteile</a:t>
            </a:r>
          </a:p>
          <a:p>
            <a:pPr marL="0" indent="0">
              <a:buNone/>
            </a:pP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0985F8D-50CC-1BC9-4C40-5E8EA05E48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453" y="1021403"/>
            <a:ext cx="7349666" cy="5340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76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6449E-0D92-7AC3-BAAD-AEF469EF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393B7C3-ED10-0BFA-ED32-9B287470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901" y="546847"/>
            <a:ext cx="10387404" cy="430927"/>
          </a:xfrm>
        </p:spPr>
        <p:txBody>
          <a:bodyPr>
            <a:normAutofit fontScale="90000"/>
          </a:bodyPr>
          <a:lstStyle/>
          <a:p>
            <a:r>
              <a:rPr lang="de-DE" dirty="0"/>
              <a:t>3.1 Gesamtbevölkerung und Geschlecht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0FED5E-0CBB-F241-EDD1-8ED311DA29A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5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A965FAA8-B1F2-249A-D2B1-25506F7BE427}"/>
              </a:ext>
            </a:extLst>
          </p:cNvPr>
          <p:cNvSpPr txBox="1">
            <a:spLocks/>
          </p:cNvSpPr>
          <p:nvPr/>
        </p:nvSpPr>
        <p:spPr>
          <a:xfrm>
            <a:off x="7474929" y="910254"/>
            <a:ext cx="4490827" cy="35974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de-DE" dirty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6C8070A1-B970-839C-A985-FA44E8C524FD}"/>
              </a:ext>
            </a:extLst>
          </p:cNvPr>
          <p:cNvSpPr txBox="1">
            <a:spLocks/>
          </p:cNvSpPr>
          <p:nvPr/>
        </p:nvSpPr>
        <p:spPr>
          <a:xfrm>
            <a:off x="533799" y="4975412"/>
            <a:ext cx="5419529" cy="1299882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Stichproben-Verteilung: 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Leichter Frauenüberschuss in den Daten mit 56 % Frauen und 44 % Männern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Struktur der Gesamtbevölkerung: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02336" lvl="1" indent="0">
              <a:buNone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Nicht-diabetische Frauen 48,7 %</a:t>
            </a:r>
          </a:p>
          <a:p>
            <a:pPr marL="402336" lvl="1" indent="0">
              <a:buNone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Nicht-diabetischen Männer 37,4 %</a:t>
            </a:r>
          </a:p>
          <a:p>
            <a:pPr lvl="1"/>
            <a:endParaRPr lang="de-DE" sz="12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B609A56-654D-D658-0249-0337EF441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490" y="1206500"/>
            <a:ext cx="5409052" cy="3542553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EA46B6F0-BBBD-82B3-D874-E713371EAC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788" y="1206499"/>
            <a:ext cx="5859700" cy="349567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2D13AF6E-70E2-60E5-65ED-264B2117D07F}"/>
              </a:ext>
            </a:extLst>
          </p:cNvPr>
          <p:cNvSpPr txBox="1"/>
          <p:nvPr/>
        </p:nvSpPr>
        <p:spPr>
          <a:xfrm>
            <a:off x="6451872" y="4944362"/>
            <a:ext cx="49003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Reale Diabetes-Raten:</a:t>
            </a:r>
            <a:r>
              <a:rPr lang="de-DE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Männer weisen mit 15,2 % eine etwas höhere Betroffenheit auf als Frauen mit 13 %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Frauen </a:t>
            </a:r>
            <a:r>
              <a:rPr lang="de-DE" sz="1800" dirty="0">
                <a:latin typeface="Arial" panose="020B0604020202020204" pitchFamily="34" charset="0"/>
                <a:cs typeface="Arial" panose="020B0604020202020204" pitchFamily="34" charset="0"/>
              </a:rPr>
              <a:t>mit 13,0 %</a:t>
            </a:r>
          </a:p>
        </p:txBody>
      </p:sp>
    </p:spTree>
    <p:extLst>
      <p:ext uri="{BB962C8B-B14F-4D97-AF65-F5344CB8AC3E}">
        <p14:creationId xmlns:p14="http://schemas.microsoft.com/office/powerpoint/2010/main" val="3704568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298B6-D32E-4667-428E-71094C9BE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3314A16-3C7D-C981-567D-F8DF27D19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865" y="463737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3.2 Altersgruppen nach Geschlecht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09DB66-10EC-2A57-5F75-0A700EDCFF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6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1B281E43-60B2-3C36-F200-C7755B011465}"/>
              </a:ext>
            </a:extLst>
          </p:cNvPr>
          <p:cNvSpPr txBox="1">
            <a:spLocks/>
          </p:cNvSpPr>
          <p:nvPr/>
        </p:nvSpPr>
        <p:spPr>
          <a:xfrm>
            <a:off x="923765" y="5002672"/>
            <a:ext cx="8764960" cy="1467992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Progressiver Verlauf: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Das Erkrankungsrisiko korreliert direkt mit dem biologischen Lebensalter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Minimales Risiko bei Jüngeren: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In den Altersgruppen unter 30 Jahren verweilt die Rate bei unter 2 %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Spürbare Risikobeschleunigung: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Ab Mitte 40 gehen die Fallzahlen steil nach oben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Der Peak: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Höchste Betroffenheit zwischen 65 und 79 Jahren mit über 25 % (Stagnation ab 80 Jahren)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Geschlechtseffekt: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sind ab dem mittleren Alter höher betroffen</a:t>
            </a:r>
          </a:p>
          <a:p>
            <a:pPr lvl="1"/>
            <a:endParaRPr lang="de-DE" sz="12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75F7C6F-86D2-700D-48FB-CFF051DF5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38" y="995083"/>
            <a:ext cx="9895439" cy="3895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320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F5255-FEA4-6301-A5E0-538FD6B8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C211AE6-5756-224A-DE1D-65E670A4D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854" y="284443"/>
            <a:ext cx="10401300" cy="612649"/>
          </a:xfrm>
        </p:spPr>
        <p:txBody>
          <a:bodyPr>
            <a:normAutofit/>
          </a:bodyPr>
          <a:lstStyle/>
          <a:p>
            <a:r>
              <a:rPr lang="de-DE" sz="3600" dirty="0"/>
              <a:t>3.3 Einfluss BMI nach Geschlecht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EF0D13-786F-539B-D1DB-274640545A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80541" y="6611234"/>
            <a:ext cx="638030" cy="184013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7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F3AB0AA3-73A1-B9D3-EBDA-A678E251A6CE}"/>
              </a:ext>
            </a:extLst>
          </p:cNvPr>
          <p:cNvSpPr txBox="1">
            <a:spLocks/>
          </p:cNvSpPr>
          <p:nvPr/>
        </p:nvSpPr>
        <p:spPr>
          <a:xfrm>
            <a:off x="7607876" y="2014021"/>
            <a:ext cx="4490827" cy="2405578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Exponentieller Anstieg: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Das Diabetes-Risiko klettert mit steigenden WHO-Gewichtsklassen drastisch nach oben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Nach Zahlen: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Normalgewicht: Minimales Risiko von nur 4,7 %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Adipositas Grad I: Risiko steigt auf 16,6 %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Adipositas Grad III: Höchstwert von 34,4 % (mehr als jeder Dritte)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Konsistentes Gefälle: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tragen über das gesamte Gewichtsspektrum hinweg ein durchgehend höheres Risiko als Frauen</a:t>
            </a:r>
          </a:p>
          <a:p>
            <a:pPr lvl="1"/>
            <a:endParaRPr lang="de-DE" sz="12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01BAB6B7-ABE2-8EE9-DCB7-BE1D6540A2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802" y="1317812"/>
            <a:ext cx="7146551" cy="462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007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B803-314E-7241-7D1C-DCFD9E935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823E00E6-5E12-9B91-28B6-78ABAB5B3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572" y="690282"/>
            <a:ext cx="10401300" cy="637115"/>
          </a:xfrm>
        </p:spPr>
        <p:txBody>
          <a:bodyPr>
            <a:normAutofit fontScale="90000"/>
          </a:bodyPr>
          <a:lstStyle/>
          <a:p>
            <a:r>
              <a:rPr lang="de-DE" dirty="0"/>
              <a:t>4. Medizinischen Faktoren: Bluthochdruck und Cholesterin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48BA5DB-E418-8887-F7E3-C5C27C3ECF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700844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8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45B01646-306D-6796-2812-F75434977629}"/>
              </a:ext>
            </a:extLst>
          </p:cNvPr>
          <p:cNvSpPr txBox="1">
            <a:spLocks/>
          </p:cNvSpPr>
          <p:nvPr/>
        </p:nvSpPr>
        <p:spPr>
          <a:xfrm>
            <a:off x="7257720" y="2459608"/>
            <a:ext cx="4490827" cy="35974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Hohe Gesamthäufigkeit: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Beide Vorerkrankungen sind mit Raten von weit über 40 % extrem weit in der Bevölkerung verbreitet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Fokus Bluthochdruck: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Deutlichstes Gefälle zwischen den Geschlechtern – Männer sind mit 45,8 % spürbar häufiger betroffen als Frauen (40,6 %)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Fokus Hohes Cholesterin: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Sehr ausgeglichenes Bild auf hohem Niveau (Männer 44,2 % vs. Frauen 41,0 %)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Relevanz: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Beide klinischen Parameter zeigen unbereinigt eine massive Nähe zu späteren Diabetes-Fällen</a:t>
            </a:r>
          </a:p>
          <a:p>
            <a:pPr lvl="1"/>
            <a:endParaRPr lang="de-DE" sz="12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3EE6E83-90CA-15C9-7E8E-EEA7BE8CA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97" y="1625600"/>
            <a:ext cx="6567776" cy="416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5004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EB45B-E7A8-6426-67BB-D6926A2C2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B1D6531-392C-A9F3-82D8-BE295B333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466" y="592866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5. Sozioökonomische Faktoren: Bildung und Einkommen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424E8CA-95CC-149E-D61F-B39D5697EFA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716886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9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DBAD469B-58C8-8F8D-021D-19459C0FB852}"/>
              </a:ext>
            </a:extLst>
          </p:cNvPr>
          <p:cNvSpPr txBox="1">
            <a:spLocks/>
          </p:cNvSpPr>
          <p:nvPr/>
        </p:nvSpPr>
        <p:spPr>
          <a:xfrm>
            <a:off x="482868" y="4387174"/>
            <a:ext cx="9137787" cy="205474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Klares Risikogefälle: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Ein höherer sozialer Status geht im direkten Vergleich mit deutlich niedrigeren Diabetes-Raten einher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Faktor Bildungsstand: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Ohne Schulabschluss liegt die Rate bei weit über 20 %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Bei Befragten mit College-Abschluss sinkt sie auf unter 10 %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Faktor Einkommensstufe: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In niedrigen Einkommensklassen (unter 15.000 $) ist fast jeder Vierte betroffen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Bei den Gutverdienern (ab 75.000 $) bricht die Rate auf unter 10 % ein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Geschlechtseffekt: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zeigen in fast allen sozialen Stufen leicht höhere Raten als Frauen</a:t>
            </a:r>
          </a:p>
          <a:p>
            <a:endParaRPr lang="de-DE" sz="120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B030B82-F62A-7F24-3DB2-FC13C15BA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426" y="1390860"/>
            <a:ext cx="5306608" cy="283373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E91EBC5-01BF-5FC5-D5C4-AB9FEBF5A9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221" y="1399537"/>
            <a:ext cx="5874828" cy="2706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044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25D86-326D-00E6-12CD-7DA90E6FF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B6AEE57-10B8-CCDF-3AB7-C65FC193F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6078" y="680935"/>
            <a:ext cx="10452637" cy="485097"/>
          </a:xfrm>
        </p:spPr>
        <p:txBody>
          <a:bodyPr>
            <a:normAutofit fontScale="90000"/>
          </a:bodyPr>
          <a:lstStyle/>
          <a:p>
            <a:r>
              <a:rPr lang="de-DE" dirty="0"/>
              <a:t>6. Subjektiver Gesundheitszustand: Körper und Psyche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7770FFA-3225-EBB4-2FA0-9016E9EDFF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10</a:t>
            </a:fld>
            <a:endParaRPr lang="de-DE" sz="1200" dirty="0">
              <a:solidFill>
                <a:schemeClr val="tx1"/>
              </a:solidFill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C547BB8-66C4-05AF-D0F3-93AEEB519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19" y="1228140"/>
            <a:ext cx="4592412" cy="2241771"/>
          </a:xfrm>
          <a:prstGeom prst="rect">
            <a:avLst/>
          </a:prstGeom>
        </p:spPr>
      </p:pic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150BD70B-2EC9-2B18-BD02-0F6C8A652489}"/>
              </a:ext>
            </a:extLst>
          </p:cNvPr>
          <p:cNvSpPr txBox="1">
            <a:spLocks/>
          </p:cNvSpPr>
          <p:nvPr/>
        </p:nvSpPr>
        <p:spPr>
          <a:xfrm>
            <a:off x="5466544" y="1408221"/>
            <a:ext cx="6323379" cy="195755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Zentraler Indikator Allgemeine 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Ausgezeichneter Zustand: Diabetes-Rate unter 3 %</a:t>
            </a:r>
          </a:p>
          <a:p>
            <a:pPr lvl="1"/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Schlechter Zustand: Rate schießt auf über 30 % nach oben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Körperliche Beschwerden: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Deutlicher Risikoanstieg mit jedem zusätzlichen Krankheitstag im Monat (über 24 % Betroffenheit bei dauerhaften Problemen)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Psychische Belastung: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Auffallend flacher Kurvenverlauf im direkten Vergleich (chronische Beschwerden steigern die Rate nur geringfügig von 13 % auf ca. 16 %)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Geschlecht: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Männer verbleiben über fast alle Stufen hinweg auf einem leicht höheren Risikoniveau</a:t>
            </a:r>
          </a:p>
          <a:p>
            <a:pPr marL="402336" lvl="1" indent="0">
              <a:buNone/>
            </a:pPr>
            <a:endParaRPr lang="de-DE" sz="120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DF2C925-9CA3-9FDD-7FCF-82D36CD4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391" y="3657599"/>
            <a:ext cx="5374025" cy="277238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2C68F60-47CC-01F7-4232-8AD9A73D34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2433" y="3647873"/>
            <a:ext cx="5549124" cy="2772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2575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635C2-D8EF-B858-8D92-C7217A507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7F1F911-DF27-BC8E-5312-5EA7D8657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396" y="427877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7. Gesamtmodell: Logistische Regression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625360-8F22-B347-80E6-2E67A45244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11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4BFE09B3-1A50-6636-DEEC-E64B9DF0F9BD}"/>
              </a:ext>
            </a:extLst>
          </p:cNvPr>
          <p:cNvSpPr txBox="1">
            <a:spLocks/>
          </p:cNvSpPr>
          <p:nvPr/>
        </p:nvSpPr>
        <p:spPr>
          <a:xfrm>
            <a:off x="7789882" y="2155871"/>
            <a:ext cx="3989742" cy="3597470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Hohe Modellgüte: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Sehr guter Erklärungswert in der Praxis mit einem Pseudo-R² von 20,15 %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Klinische Spitzenreiter: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Bluthochdruck (OR: 2,19) und hohes Cholesterin (OR: 1,83) sind im bereinigten Vergleich die stärksten Risikofaktoren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Kontinuierlicher BMI-Effekt: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Jeder zusätzliche BMI-Punkt steigert das Risiko stetig um 6,5 % (OR: 1,065)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Sozioökonomische Kehrtwende: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Bildung (OR: 0,96) und Einkommen (OR: 0,95) werden im bereinigten Modell zu echten Schutzfaktoren (OR &lt; 1,0)</a:t>
            </a:r>
          </a:p>
          <a:p>
            <a:r>
              <a:rPr lang="de-DE" sz="1200" b="1" dirty="0">
                <a:latin typeface="Arial" panose="020B0604020202020204" pitchFamily="34" charset="0"/>
                <a:cs typeface="Arial" panose="020B0604020202020204" pitchFamily="34" charset="0"/>
              </a:rPr>
              <a:t>Statistische Absicherung: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Alle 9 Prädiktoren sind hochgradig signifikant (kein Fehlerbalken schneidet die Neutrallinie von 1,0)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B061381-6FD5-A64A-1B41-49224A3C56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294" y="1129553"/>
            <a:ext cx="7395882" cy="5379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825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61A90-9B37-2F87-C5B6-03C214A27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9620048-3CAA-7300-65C5-671780843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573" y="562348"/>
            <a:ext cx="10401300" cy="612649"/>
          </a:xfrm>
        </p:spPr>
        <p:txBody>
          <a:bodyPr>
            <a:normAutofit fontScale="90000"/>
          </a:bodyPr>
          <a:lstStyle/>
          <a:p>
            <a:r>
              <a:rPr lang="de-DE" dirty="0"/>
              <a:t>8. Zusammenfassung</a:t>
            </a:r>
            <a:br>
              <a:rPr lang="de-DE" dirty="0"/>
            </a:b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0AD452D-BD8B-507E-E719-7D4E3647F0E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668760" y="6610349"/>
            <a:ext cx="523240" cy="247651"/>
          </a:xfrm>
        </p:spPr>
        <p:txBody>
          <a:bodyPr/>
          <a:lstStyle/>
          <a:p>
            <a:pPr rtl="0"/>
            <a:fld id="{294A09A9-5501-47C1-A89A-A340965A2BE2}" type="slidenum">
              <a:rPr lang="de-DE" sz="1200" smtClean="0">
                <a:solidFill>
                  <a:schemeClr val="tx1"/>
                </a:solidFill>
              </a:rPr>
              <a:pPr rtl="0"/>
              <a:t>12</a:t>
            </a:fld>
            <a:endParaRPr lang="de-DE" sz="1200" dirty="0">
              <a:solidFill>
                <a:schemeClr val="tx1"/>
              </a:solidFill>
            </a:endParaRP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826C274C-D31E-3E22-6254-632681EE5F0A}"/>
              </a:ext>
            </a:extLst>
          </p:cNvPr>
          <p:cNvSpPr txBox="1">
            <a:spLocks/>
          </p:cNvSpPr>
          <p:nvPr/>
        </p:nvSpPr>
        <p:spPr>
          <a:xfrm>
            <a:off x="592199" y="1269696"/>
            <a:ext cx="11111091" cy="2545559"/>
          </a:xfrm>
          <a:prstGeom prst="rect">
            <a:avLst/>
          </a:prstGeom>
        </p:spPr>
        <p:txBody>
          <a:bodyPr rtlCol="0"/>
          <a:lstStyle>
            <a:defPPr>
              <a:defRPr lang="de-DE"/>
            </a:defPPr>
            <a:lvl1pPr marL="228600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de-DE" sz="2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4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20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83464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b="0" i="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Herz-Kreislauf::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Bluthochdruck (OR: 2,19) und hohes Cholesterin (OR: 1,83) sind die stärksten unabhängigen Diabetes-Treiber.</a:t>
            </a:r>
          </a:p>
          <a:p>
            <a:pPr>
              <a:spcBef>
                <a:spcPts val="0"/>
              </a:spcBef>
            </a:pP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Kumulative BMI-Gefahr: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Ein einzelner BMI-Punkt wirkt mit +6,5 % gering, summiert sich bei einer Erhöhung um 10 Punkte jedoch auf ca. +88 % Gesamtrisiko.</a:t>
            </a:r>
          </a:p>
          <a:p>
            <a:pPr marL="0" indent="0">
              <a:spcBef>
                <a:spcPts val="0"/>
              </a:spcBef>
              <a:buNone/>
            </a:pP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Status-Verzerrung aufgelöst: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Soziale Faktoren (Bildung/Einkommen) sind keine biologischen Ursachen, sondern im Gesamtmodell schützende Faktoren (OR &lt; 1,0).</a:t>
            </a:r>
          </a:p>
          <a:p>
            <a:pPr marL="0" indent="0">
              <a:buNone/>
            </a:pP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de-DE" sz="1400" b="1" dirty="0">
                <a:latin typeface="Arial" panose="020B0604020202020204" pitchFamily="34" charset="0"/>
                <a:cs typeface="Arial" panose="020B0604020202020204" pitchFamily="34" charset="0"/>
              </a:rPr>
              <a:t>Praxisrelevanz: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Subjektiv schlechte Gesundheit korreliert extrem stark mit manifestierten Erkrankungen und dient als verlässlicher Frühindikator.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9D711C4-7DB9-8E4E-2768-5D3FB1180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6" y="4053321"/>
            <a:ext cx="5270248" cy="2064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976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10C1B7-6E4E-3DEE-50C0-1CA3B1430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4360" y="515174"/>
            <a:ext cx="5486400" cy="329184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>
                <a:latin typeface="Arial" panose="020B0604020202020204" pitchFamily="34" charset="0"/>
              </a:rPr>
              <a:t>Vielen Dank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E13CE12A-C093-C9BD-6E39-F31147551124}"/>
              </a:ext>
            </a:extLst>
          </p:cNvPr>
          <p:cNvCxnSpPr>
            <a:cxnSpLocks/>
          </p:cNvCxnSpPr>
          <p:nvPr/>
        </p:nvCxnSpPr>
        <p:spPr>
          <a:xfrm>
            <a:off x="586033" y="3954729"/>
            <a:ext cx="2204464" cy="0"/>
          </a:xfrm>
          <a:prstGeom prst="line">
            <a:avLst/>
          </a:prstGeom>
          <a:ln w="1143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1132419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Swiss">
      <a:dk1>
        <a:srgbClr val="000000"/>
      </a:dk1>
      <a:lt1>
        <a:srgbClr val="FFFFFF"/>
      </a:lt1>
      <a:dk2>
        <a:srgbClr val="E4E4E4"/>
      </a:dk2>
      <a:lt2>
        <a:srgbClr val="7CA655"/>
      </a:lt2>
      <a:accent1>
        <a:srgbClr val="A9D4DB"/>
      </a:accent1>
      <a:accent2>
        <a:srgbClr val="FBE284"/>
      </a:accent2>
      <a:accent3>
        <a:srgbClr val="4495A2"/>
      </a:accent3>
      <a:accent4>
        <a:srgbClr val="AA5881"/>
      </a:accent4>
      <a:accent5>
        <a:srgbClr val="E06742"/>
      </a:accent5>
      <a:accent6>
        <a:srgbClr val="F9D448"/>
      </a:accent6>
      <a:hlink>
        <a:srgbClr val="4495A2"/>
      </a:hlink>
      <a:folHlink>
        <a:srgbClr val="AA5881"/>
      </a:folHlink>
    </a:clrScheme>
    <a:fontScheme name="Custom 175">
      <a:majorFont>
        <a:latin typeface="Franklin Gothic Demi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332793_TF78853419_Win32" id="{73C4F1C6-D164-4434-8FDF-48F92F60FB31}" vid="{13AA8AF3-B505-4A9F-9557-DEA5A55D833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2512</Words>
  <Application>Microsoft Office PowerPoint</Application>
  <PresentationFormat>Breitbild</PresentationFormat>
  <Paragraphs>302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Franklin Gothic Book</vt:lpstr>
      <vt:lpstr>Benutzerdefiniert</vt:lpstr>
      <vt:lpstr>Diabetes Risikofaktoren  Explorative Datenanalyse   </vt:lpstr>
      <vt:lpstr>Agenda</vt:lpstr>
      <vt:lpstr>1. Datenbasis</vt:lpstr>
      <vt:lpstr>2. Übersicht der 9 ausgewählten Risikofaktoren </vt:lpstr>
      <vt:lpstr>3.1 Gesamtbevölkerung und Geschlecht </vt:lpstr>
      <vt:lpstr>3.2 Altersgruppen nach Geschlecht </vt:lpstr>
      <vt:lpstr>3.3 Einfluss BMI nach Geschlecht</vt:lpstr>
      <vt:lpstr>4. Medizinischen Faktoren: Bluthochdruck und Cholesterin </vt:lpstr>
      <vt:lpstr>5. Sozioökonomische Faktoren: Bildung und Einkommen </vt:lpstr>
      <vt:lpstr>6. Subjektiver Gesundheitszustand: Körper und Psyche </vt:lpstr>
      <vt:lpstr>7. Gesamtmodell: Logistische Regression </vt:lpstr>
      <vt:lpstr>8. Zusammenfassung </vt:lpstr>
      <vt:lpstr>Vielen Dank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Kerstin Klueh</dc:creator>
  <cp:lastModifiedBy>Kerstin Klueh</cp:lastModifiedBy>
  <cp:revision>53</cp:revision>
  <dcterms:created xsi:type="dcterms:W3CDTF">2026-06-01T10:21:41Z</dcterms:created>
  <dcterms:modified xsi:type="dcterms:W3CDTF">2026-06-04T15:34:47Z</dcterms:modified>
</cp:coreProperties>
</file>